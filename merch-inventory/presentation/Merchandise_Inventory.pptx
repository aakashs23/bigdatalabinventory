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id="{47179139-47e6-7d9a-6fa9-c97bb146c463}">
          <p14:sldIdLst>
            <p14:sldId id="256"/>
            <p14:sldId id="257"/>
            <p14:sldId id="258"/>
            <p14:sldId id="259"/>
          </p14:sldIdLst>
        </p14:section>
        <p14:section name="Demo" id="{79a56df4-e7b9-ae89-9e2c-22269ada026b}">
          <p14:sldIdLst>
            <p14:sldId id="260"/>
          </p14:sldIdLst>
        </p14:section>
        <p14:section name="XML integration" id="{f0509b4b-6aac-e7db-dcfa-3926f75c9a28}">
          <p14:sldIdLst>
            <p14:sldId id="261"/>
            <p14:sldId id="262"/>
            <p14:sldId id="263"/>
            <p14:sldId id="264"/>
            <p14:sldId id="265"/>
          </p14:sldIdLst>
        </p14:section>
        <p14:section name="Wrap-up" id="{5ce91067-30ec-eeb5-d197-9d4212f4ca1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a small system that answers 'what is this product, where does it sit, and do we have stock?' for an online beauty retailer. Modelled on Nykaa, but the prices, stock and warehouses are made up. The picture is the whole idea: two databases, one XML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retailer sells thousands of products. A customer-service person or a merchandiser asks three questions: what is this product, where does it sit in the catalog, and do we have it in stock. The answers live in different places and have different shapes, which is the problem this project solves. Green = MongoDB answers, blue = Neo4j answers; I use the same colours throughout the deck and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kind of data goes where it fits best. The catalog is document-shaped and every product type has different attributes, so MongoDB. Stock is many small rows per product, with rules (no negative quantity, one row per SKU and warehouse) that MongoDB's validator and unique index enforce. Categories and 'bought together' links are relationships, so Neo4j; asking for everything under Makeup is one walk down the tree instead of repeated joins. This split is the whole point of the project: polyglot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flows through four stages. The browser sends one search to the FastAPI mediator. The mediator queries MongoDB and Neo4j, turns each answer into an XML piece, merges the pieces by SKU into one document, validates that document against the XSD, and returns it with a trace of every database call. The browser never talks to a database directly. Next slide: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page at http://127.0.0.1:8000/. 1) Search LIP-001: show MongoDB attributes and stock, the Neo4j category path and related products, then the query trace (three MongoDB calls, one Neo4j call) and the XML tabs. 2) Makeup: 8 products from Lips, Face and Eyes; this is the graph walk. 3) OIL-001: stock is missing on purpose and the page says 'No stock records'. 4) CMP-001 is OUT, FND-001 is LOW. 5) xyz: nothing found, only two trace steps. 6) Run 'docker compose stop neo4j' beforehand, search LIP-001: expect about 5 seconds, then a banner and MongoDB data only. Start Neo4j again with 'docker compose start neo4j'. Rehearse step 6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sequence the mediator runs for every search, and the page shows it as the query trace. Step 1 asks MongoDB whether the text is a SKU (case does not matter). If not, step 2 asks Neo4j whether it is a category, walking down the tree so subcategories count. Then it fetches the catalog and stock from MongoDB and the category path and related products from Neo4j. The mode (sku, category or none) ends up on the merged XML. The page also shows the milliseconds for each call, as in the screenshot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holds only SKUs and categories; product details stay in MongoDB. Products point to their lowest category with IN_CATEGORY, and categories point to their parent with SUBCATEGORY_OF. 'Everything under Makeup' is the Cypher on the right: start at Makeup and walk down zero or more levels. The star-zero-dots part is why a search for Makeup finds products in Lips, Face and Eyes without us listing the subcategories. The dashed link is a BOUGHT_TOGETHER relationship between two products; SIMILAR_TO works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database knows the other exists. Each answers in its own XML piece, and XML is the common language between them. The mediator merges the pieces by the sku attribute: for every SKU it copies the MongoDB parts first and then the Neo4j parts into one product element, wrapped in a merchandise root that records the query, the mode and the count. If a SKU only appears in one piece (say Neo4j was down), it is kept with the parts we have. The code is in xml_builder.py: mongo_to_xml, neo4j_to_xml and merge_xml.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merchandise.xsd is the rulebook every merged document must pass. The root carries the query, a mode limited to sku, category or none, and a count. Simple types restrict values: a SKU must match three capital letters, a dash and three digits; status can only be OK, LOW or OUT; relation can only be BOUGHT_TOGETHER or SIMILAR_TO; quantities are non-negative whole numbers and a price is a non-negative decimal with a currency attribute. Product attributes differ per product, so their name is data (attribute name=...), which lets one schema cover lipsticks, sunscreens and shampoos. A product is an ordered sequence of name, brand, price, tags, attributes, stock, category_path and related, but every part is optional; only the sku is required. That is what keeps a document valid when one database fails. Finally xs:unique rejects two products with the same SKU.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part except the SKU is optional in the schema, one database failing degrades the answer instead of breaking it. Here Neo4j is stopped: the card says 'Category unavailable', the MongoDB catalog and stock are still there, the trace records the Neo4j error at step 4, and the merged XML is still valid. The wait of about five seconds is the Neo4j driver retrying before it gives up; say so out loud if you demo this live. Mention the self-test: python xml_builder.py --check proves the schema rejects an invalid status, a malformed SKU and a duplicate SKU.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One: use the right store for each shape of data. Two: XML is the common language, and the SKU is the join key. Three: the XSD is the contract that every merged document must satisfy, which is also what makes partial results safe. Honest limits: the data is sample data, there is no caching and no login. Then open for questions. Likely ones: why XML and not JSON (the brief asks for XML, and XSD gives strong validation); why not one database (each shape fits one store much better); what if SKUs do not match (the merge keeps whatever parts exist, and the XSD allows that); where is the join (merge_xml, on the sku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394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017520"/>
            <a:ext cx="5394960" cy="7315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394960" cy="1737360"/>
          </a:xfrm>
          <a:prstGeom prst="rect">
            <a:avLst/>
          </a:prstGeom>
          <a:noFill/>
          <a:ln/>
        </p:spPr>
        <p:txBody>
          <a:bodyPr wrap="square" lIns="0" tIns="0" rIns="0" bIns="0" rtlCol="0" anchor="b"/>
          <a:lstStyle/>
          <a:p>
            <a:pPr algn="l" indent="0" marL="0">
              <a:buNone/>
            </a:pPr>
            <a:r>
              <a:rPr lang="en-US" sz="4000" b="1" dirty="0">
                <a:solidFill>
                  <a:schemeClr val="bg1"/>
                </a:solidFill>
              </a:rPr>
              <a:t>Merchandise Categorization and Inventory</a:t>
            </a:r>
            <a:endParaRPr lang="en-US" sz="4000" dirty="0"/>
          </a:p>
        </p:txBody>
      </p:sp>
      <p:sp>
        <p:nvSpPr>
          <p:cNvPr id="3" name="Text 0"/>
          <p:cNvSpPr/>
          <p:nvPr>
            <p:ph idx="101" type="body" hasCustomPrompt="1"/>
          </p:nvPr>
        </p:nvSpPr>
        <p:spPr>
          <a:xfrm>
            <a:off x="548640" y="3017520"/>
            <a:ext cx="5394960" cy="731520"/>
          </a:xfrm>
          <a:prstGeom prst="rect">
            <a:avLst/>
          </a:prstGeom>
          <a:noFill/>
          <a:ln/>
        </p:spPr>
        <p:txBody>
          <a:bodyPr wrap="square" lIns="0" tIns="0" rIns="0" bIns="0" rtlCol="0" anchor="t"/>
          <a:lstStyle/>
          <a:p>
            <a:pPr algn="l" indent="0" marL="0">
              <a:buNone/>
            </a:pPr>
            <a:r>
              <a:rPr lang="en-US" sz="2000" dirty="0">
                <a:solidFill>
                  <a:schemeClr val="bg2"/>
                </a:solidFill>
              </a:rPr>
              <a:t>Integrating MongoDB and Neo4j through XML</a:t>
            </a:r>
            <a:endParaRPr lang="en-US" sz="2000" dirty="0"/>
          </a:p>
        </p:txBody>
      </p:sp>
      <p:sp>
        <p:nvSpPr>
          <p:cNvPr id="4" name="Case study line"/>
          <p:cNvSpPr txBox="1"/>
          <p:nvPr/>
        </p:nvSpPr>
        <p:spPr>
          <a:xfrm>
            <a:off x="548640" y="3931920"/>
            <a:ext cx="5394960" cy="365760"/>
          </a:xfrm>
          <a:prstGeom prst="rect">
            <a:avLst/>
          </a:prstGeom>
          <a:noFill/>
          <a:ln/>
        </p:spPr>
        <p:txBody>
          <a:bodyPr wrap="square" lIns="0" tIns="0" rIns="0" bIns="0" rtlCol="0" anchor="t"/>
          <a:lstStyle/>
          <a:p>
            <a:pPr indent="0" marL="0">
              <a:buNone/>
            </a:pPr>
            <a:r>
              <a:rPr lang="en-US" sz="1400" dirty="0">
                <a:solidFill>
                  <a:schemeClr val="bg2"/>
                </a:solidFill>
              </a:rPr>
              <a:t>Big Data Lab case study · modelled on Nykaa, illustrative data</a:t>
            </a:r>
            <a:endParaRPr lang="en-US" sz="1400" dirty="0"/>
          </a:p>
        </p:txBody>
      </p:sp>
      <p:sp>
        <p:nvSpPr>
          <p:cNvPr id="5" name="Link Mongo to XML"/>
          <p:cNvSpPr/>
          <p:nvPr/>
        </p:nvSpPr>
        <p:spPr>
          <a:xfrm>
            <a:off x="7132320" y="1828800"/>
            <a:ext cx="548640" cy="731520"/>
          </a:xfrm>
          <a:prstGeom prst="line">
            <a:avLst/>
          </a:prstGeom>
          <a:noFill/>
          <a:ln w="25400">
            <a:solidFill>
              <a:schemeClr val="bg2"/>
            </a:solidFill>
            <a:prstDash val="solid"/>
          </a:ln>
        </p:spPr>
      </p:sp>
      <p:sp>
        <p:nvSpPr>
          <p:cNvPr id="6" name="Link Neo4j to XML"/>
          <p:cNvSpPr/>
          <p:nvPr/>
        </p:nvSpPr>
        <p:spPr>
          <a:xfrm flipV="1">
            <a:off x="7132320" y="2926080"/>
            <a:ext cx="548640" cy="731520"/>
          </a:xfrm>
          <a:prstGeom prst="line">
            <a:avLst/>
          </a:prstGeom>
          <a:noFill/>
          <a:ln w="25400">
            <a:solidFill>
              <a:schemeClr val="bg2"/>
            </a:solidFill>
            <a:prstDash val="solid"/>
          </a:ln>
        </p:spPr>
      </p:sp>
      <p:sp>
        <p:nvSpPr>
          <p:cNvPr id="7" name="MongoDB node"/>
          <p:cNvSpPr txBox="1"/>
          <p:nvPr/>
        </p:nvSpPr>
        <p:spPr>
          <a:xfrm>
            <a:off x="6217920" y="1371600"/>
            <a:ext cx="914400" cy="9144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Mongo</a:t>
            </a:r>
            <a:endParaRPr lang="en-US" sz="1400" dirty="0"/>
          </a:p>
          <a:p>
            <a:pPr algn="ctr" indent="0" marL="0">
              <a:buNone/>
            </a:pPr>
            <a:r>
              <a:rPr lang="en-US" sz="1400" b="1" dirty="0">
                <a:solidFill>
                  <a:schemeClr val="bg1"/>
                </a:solidFill>
              </a:rPr>
              <a:t>DB</a:t>
            </a:r>
            <a:endParaRPr lang="en-US" sz="1400" dirty="0"/>
          </a:p>
        </p:txBody>
      </p:sp>
      <p:sp>
        <p:nvSpPr>
          <p:cNvPr id="8" name="Neo4j node"/>
          <p:cNvSpPr txBox="1"/>
          <p:nvPr/>
        </p:nvSpPr>
        <p:spPr>
          <a:xfrm>
            <a:off x="6217920" y="3200400"/>
            <a:ext cx="914400" cy="91440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Neo4j</a:t>
            </a:r>
            <a:endParaRPr lang="en-US" sz="1400" dirty="0"/>
          </a:p>
        </p:txBody>
      </p:sp>
      <p:sp>
        <p:nvSpPr>
          <p:cNvPr id="9" name="XML node"/>
          <p:cNvSpPr txBox="1"/>
          <p:nvPr/>
        </p:nvSpPr>
        <p:spPr>
          <a:xfrm>
            <a:off x="7635240" y="2240280"/>
            <a:ext cx="1051560" cy="10515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XML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use case</a:t>
            </a:r>
            <a:endParaRPr lang="en-US" sz="3600" dirty="0"/>
          </a:p>
        </p:txBody>
      </p:sp>
      <p:sp>
        <p:nvSpPr>
          <p:cNvPr id="3" name="Statement"/>
          <p:cNvSpPr txBox="1"/>
          <p:nvPr/>
        </p:nvSpPr>
        <p:spPr>
          <a:xfrm>
            <a:off x="457200" y="1280160"/>
            <a:ext cx="3383280" cy="1737360"/>
          </a:xfrm>
          <a:prstGeom prst="rect">
            <a:avLst/>
          </a:prstGeom>
          <a:noFill/>
          <a:ln/>
        </p:spPr>
        <p:txBody>
          <a:bodyPr wrap="square" lIns="0" tIns="0" rIns="0" bIns="0" rtlCol="0" anchor="t"/>
          <a:lstStyle/>
          <a:p>
            <a:pPr indent="0" marL="0">
              <a:buNone/>
            </a:pPr>
            <a:r>
              <a:rPr lang="en-US" sz="2400" b="1" dirty="0">
                <a:solidFill>
                  <a:schemeClr val="tx1"/>
                </a:solidFill>
              </a:rPr>
              <a:t>An online beauty retailer needs one answer from several systems</a:t>
            </a:r>
            <a:endParaRPr lang="en-US" sz="2400" dirty="0"/>
          </a:p>
        </p:txBody>
      </p:sp>
      <p:sp>
        <p:nvSpPr>
          <p:cNvPr id="4" name="Data note"/>
          <p:cNvSpPr txBox="1"/>
          <p:nvPr/>
        </p:nvSpPr>
        <p:spPr>
          <a:xfrm>
            <a:off x="457200" y="2926080"/>
            <a:ext cx="3383280" cy="822960"/>
          </a:xfrm>
          <a:prstGeom prst="rect">
            <a:avLst/>
          </a:prstGeom>
          <a:noFill/>
          <a:ln/>
        </p:spPr>
        <p:txBody>
          <a:bodyPr wrap="square" lIns="0" tIns="0" rIns="0" bIns="0" rtlCol="0" anchor="t"/>
          <a:lstStyle/>
          <a:p>
            <a:pPr indent="0" marL="0">
              <a:buNone/>
            </a:pPr>
            <a:r>
              <a:rPr lang="en-US" sz="1400" dirty="0">
                <a:solidFill>
                  <a:schemeClr val="accent6"/>
                </a:solidFill>
              </a:rPr>
              <a:t>Brands and products are real. Prices, stock and warehouses are made up.</a:t>
            </a:r>
            <a:endParaRPr lang="en-US" sz="1400" dirty="0"/>
          </a:p>
        </p:txBody>
      </p:sp>
      <p:sp>
        <p:nvSpPr>
          <p:cNvPr id="5" name="Question card 1"/>
          <p:cNvSpPr/>
          <p:nvPr/>
        </p:nvSpPr>
        <p:spPr>
          <a:xfrm>
            <a:off x="4114800" y="1188720"/>
            <a:ext cx="4572000" cy="1005840"/>
          </a:xfrm>
          <a:prstGeom prst="roundRect">
            <a:avLst>
              <a:gd name="adj" fmla="val 10909"/>
            </a:avLst>
          </a:prstGeom>
          <a:solidFill>
            <a:schemeClr val="bg2"/>
          </a:solidFill>
          <a:ln/>
        </p:spPr>
      </p:sp>
      <p:sp>
        <p:nvSpPr>
          <p:cNvPr id="6" name="Icon circle 1"/>
          <p:cNvSpPr/>
          <p:nvPr/>
        </p:nvSpPr>
        <p:spPr>
          <a:xfrm>
            <a:off x="4297680" y="1417320"/>
            <a:ext cx="548640" cy="548640"/>
          </a:xfrm>
          <a:prstGeom prst="ellipse">
            <a:avLst/>
          </a:prstGeom>
          <a:solidFill>
            <a:schemeClr val="accent2"/>
          </a:solidFill>
          <a:ln/>
        </p:spPr>
      </p:sp>
      <p:pic>
        <p:nvPicPr>
          <p:cNvPr id="7" name="Image 0" descr="What is this product?">    </p:cNvPr>
          <p:cNvPicPr>
            <a:picLocks noChangeAspect="1"/>
          </p:cNvPicPr>
          <p:nvPr/>
        </p:nvPicPr>
        <p:blipFill>
          <a:blip r:embed="rId1"/>
          <a:stretch>
            <a:fillRect/>
          </a:stretch>
        </p:blipFill>
        <p:spPr>
          <a:xfrm>
            <a:off x="4425696" y="1545336"/>
            <a:ext cx="292608" cy="292608"/>
          </a:xfrm>
          <a:prstGeom prst="rect">
            <a:avLst/>
          </a:prstGeom>
        </p:spPr>
      </p:pic>
      <p:sp>
        <p:nvSpPr>
          <p:cNvPr id="8" name="Question 1"/>
          <p:cNvSpPr txBox="1"/>
          <p:nvPr/>
        </p:nvSpPr>
        <p:spPr>
          <a:xfrm>
            <a:off x="5074920" y="1344168"/>
            <a:ext cx="3474720" cy="365760"/>
          </a:xfrm>
          <a:prstGeom prst="rect">
            <a:avLst/>
          </a:prstGeom>
          <a:noFill/>
          <a:ln/>
        </p:spPr>
        <p:txBody>
          <a:bodyPr wrap="square" lIns="0" tIns="0" rIns="0" bIns="0" rtlCol="0" anchor="t"/>
          <a:lstStyle/>
          <a:p>
            <a:pPr indent="0" marL="0">
              <a:buNone/>
            </a:pPr>
            <a:r>
              <a:rPr lang="en-US" sz="1800" b="1" dirty="0">
                <a:solidFill>
                  <a:schemeClr val="tx1"/>
                </a:solidFill>
              </a:rPr>
              <a:t>What is this product?</a:t>
            </a:r>
            <a:endParaRPr lang="en-US" sz="1800" dirty="0"/>
          </a:p>
        </p:txBody>
      </p:sp>
      <p:sp>
        <p:nvSpPr>
          <p:cNvPr id="9" name="Question detail 1"/>
          <p:cNvSpPr txBox="1"/>
          <p:nvPr/>
        </p:nvSpPr>
        <p:spPr>
          <a:xfrm>
            <a:off x="5074920" y="1719072"/>
            <a:ext cx="3474720" cy="365760"/>
          </a:xfrm>
          <a:prstGeom prst="rect">
            <a:avLst/>
          </a:prstGeom>
          <a:noFill/>
          <a:ln/>
        </p:spPr>
        <p:txBody>
          <a:bodyPr wrap="square" lIns="0" tIns="0" rIns="0" bIns="0" rtlCol="0" anchor="t"/>
          <a:lstStyle/>
          <a:p>
            <a:pPr indent="0" marL="0">
              <a:buNone/>
            </a:pPr>
            <a:r>
              <a:rPr lang="en-US" sz="1400" dirty="0">
                <a:solidFill>
                  <a:schemeClr val="accent6"/>
                </a:solidFill>
              </a:rPr>
              <a:t>Name, brand, price, flexible attributes</a:t>
            </a:r>
            <a:endParaRPr lang="en-US" sz="1400" dirty="0"/>
          </a:p>
        </p:txBody>
      </p:sp>
      <p:sp>
        <p:nvSpPr>
          <p:cNvPr id="10" name="Question card 2"/>
          <p:cNvSpPr/>
          <p:nvPr/>
        </p:nvSpPr>
        <p:spPr>
          <a:xfrm>
            <a:off x="4114800" y="2331720"/>
            <a:ext cx="4572000" cy="1005840"/>
          </a:xfrm>
          <a:prstGeom prst="roundRect">
            <a:avLst>
              <a:gd name="adj" fmla="val 10909"/>
            </a:avLst>
          </a:prstGeom>
          <a:solidFill>
            <a:schemeClr val="bg2"/>
          </a:solidFill>
          <a:ln/>
        </p:spPr>
      </p:sp>
      <p:sp>
        <p:nvSpPr>
          <p:cNvPr id="11" name="Icon circle 2"/>
          <p:cNvSpPr/>
          <p:nvPr/>
        </p:nvSpPr>
        <p:spPr>
          <a:xfrm>
            <a:off x="4297680" y="2560320"/>
            <a:ext cx="548640" cy="548640"/>
          </a:xfrm>
          <a:prstGeom prst="ellipse">
            <a:avLst/>
          </a:prstGeom>
          <a:solidFill>
            <a:schemeClr val="accent3"/>
          </a:solidFill>
          <a:ln/>
        </p:spPr>
      </p:sp>
      <p:pic>
        <p:nvPicPr>
          <p:cNvPr id="12" name="Image 1" descr="Where does it sit?">    </p:cNvPr>
          <p:cNvPicPr>
            <a:picLocks noChangeAspect="1"/>
          </p:cNvPicPr>
          <p:nvPr/>
        </p:nvPicPr>
        <p:blipFill>
          <a:blip r:embed="rId2"/>
          <a:stretch>
            <a:fillRect/>
          </a:stretch>
        </p:blipFill>
        <p:spPr>
          <a:xfrm>
            <a:off x="4425696" y="2688336"/>
            <a:ext cx="292608" cy="292608"/>
          </a:xfrm>
          <a:prstGeom prst="rect">
            <a:avLst/>
          </a:prstGeom>
        </p:spPr>
      </p:pic>
      <p:sp>
        <p:nvSpPr>
          <p:cNvPr id="13" name="Question 2"/>
          <p:cNvSpPr txBox="1"/>
          <p:nvPr/>
        </p:nvSpPr>
        <p:spPr>
          <a:xfrm>
            <a:off x="5074920" y="2487168"/>
            <a:ext cx="3474720" cy="365760"/>
          </a:xfrm>
          <a:prstGeom prst="rect">
            <a:avLst/>
          </a:prstGeom>
          <a:noFill/>
          <a:ln/>
        </p:spPr>
        <p:txBody>
          <a:bodyPr wrap="square" lIns="0" tIns="0" rIns="0" bIns="0" rtlCol="0" anchor="t"/>
          <a:lstStyle/>
          <a:p>
            <a:pPr indent="0" marL="0">
              <a:buNone/>
            </a:pPr>
            <a:r>
              <a:rPr lang="en-US" sz="1800" b="1" dirty="0">
                <a:solidFill>
                  <a:schemeClr val="tx1"/>
                </a:solidFill>
              </a:rPr>
              <a:t>Where does it sit?</a:t>
            </a:r>
            <a:endParaRPr lang="en-US" sz="1800" dirty="0"/>
          </a:p>
        </p:txBody>
      </p:sp>
      <p:sp>
        <p:nvSpPr>
          <p:cNvPr id="14" name="Question detail 2"/>
          <p:cNvSpPr txBox="1"/>
          <p:nvPr/>
        </p:nvSpPr>
        <p:spPr>
          <a:xfrm>
            <a:off x="5074920" y="2862072"/>
            <a:ext cx="3474720" cy="365760"/>
          </a:xfrm>
          <a:prstGeom prst="rect">
            <a:avLst/>
          </a:prstGeom>
          <a:noFill/>
          <a:ln/>
        </p:spPr>
        <p:txBody>
          <a:bodyPr wrap="square" lIns="0" tIns="0" rIns="0" bIns="0" rtlCol="0" anchor="t"/>
          <a:lstStyle/>
          <a:p>
            <a:pPr indent="0" marL="0">
              <a:buNone/>
            </a:pPr>
            <a:r>
              <a:rPr lang="en-US" sz="1400" dirty="0">
                <a:solidFill>
                  <a:schemeClr val="accent6"/>
                </a:solidFill>
              </a:rPr>
              <a:t>Category path and related products</a:t>
            </a:r>
            <a:endParaRPr lang="en-US" sz="1400" dirty="0"/>
          </a:p>
        </p:txBody>
      </p:sp>
      <p:sp>
        <p:nvSpPr>
          <p:cNvPr id="15" name="Question card 3"/>
          <p:cNvSpPr/>
          <p:nvPr/>
        </p:nvSpPr>
        <p:spPr>
          <a:xfrm>
            <a:off x="4114800" y="3474720"/>
            <a:ext cx="4572000" cy="1005840"/>
          </a:xfrm>
          <a:prstGeom prst="roundRect">
            <a:avLst>
              <a:gd name="adj" fmla="val 10909"/>
            </a:avLst>
          </a:prstGeom>
          <a:solidFill>
            <a:schemeClr val="bg2"/>
          </a:solidFill>
          <a:ln/>
        </p:spPr>
      </p:sp>
      <p:sp>
        <p:nvSpPr>
          <p:cNvPr id="16" name="Icon circle 3"/>
          <p:cNvSpPr/>
          <p:nvPr/>
        </p:nvSpPr>
        <p:spPr>
          <a:xfrm>
            <a:off x="4297680" y="3703320"/>
            <a:ext cx="548640" cy="548640"/>
          </a:xfrm>
          <a:prstGeom prst="ellipse">
            <a:avLst/>
          </a:prstGeom>
          <a:solidFill>
            <a:schemeClr val="accent2"/>
          </a:solidFill>
          <a:ln/>
        </p:spPr>
      </p:sp>
      <p:pic>
        <p:nvPicPr>
          <p:cNvPr id="17" name="Image 2" descr="Do we have stock?">    </p:cNvPr>
          <p:cNvPicPr>
            <a:picLocks noChangeAspect="1"/>
          </p:cNvPicPr>
          <p:nvPr/>
        </p:nvPicPr>
        <p:blipFill>
          <a:blip r:embed="rId3"/>
          <a:stretch>
            <a:fillRect/>
          </a:stretch>
        </p:blipFill>
        <p:spPr>
          <a:xfrm>
            <a:off x="4425696" y="3831336"/>
            <a:ext cx="292608" cy="292608"/>
          </a:xfrm>
          <a:prstGeom prst="rect">
            <a:avLst/>
          </a:prstGeom>
        </p:spPr>
      </p:pic>
      <p:sp>
        <p:nvSpPr>
          <p:cNvPr id="18" name="Question 3"/>
          <p:cNvSpPr txBox="1"/>
          <p:nvPr/>
        </p:nvSpPr>
        <p:spPr>
          <a:xfrm>
            <a:off x="5074920" y="3630168"/>
            <a:ext cx="3474720" cy="365760"/>
          </a:xfrm>
          <a:prstGeom prst="rect">
            <a:avLst/>
          </a:prstGeom>
          <a:noFill/>
          <a:ln/>
        </p:spPr>
        <p:txBody>
          <a:bodyPr wrap="square" lIns="0" tIns="0" rIns="0" bIns="0" rtlCol="0" anchor="t"/>
          <a:lstStyle/>
          <a:p>
            <a:pPr indent="0" marL="0">
              <a:buNone/>
            </a:pPr>
            <a:r>
              <a:rPr lang="en-US" sz="1800" b="1" dirty="0">
                <a:solidFill>
                  <a:schemeClr val="tx1"/>
                </a:solidFill>
              </a:rPr>
              <a:t>Do we have stock?</a:t>
            </a:r>
            <a:endParaRPr lang="en-US" sz="1800" dirty="0"/>
          </a:p>
        </p:txBody>
      </p:sp>
      <p:sp>
        <p:nvSpPr>
          <p:cNvPr id="19" name="Question detail 3"/>
          <p:cNvSpPr txBox="1"/>
          <p:nvPr/>
        </p:nvSpPr>
        <p:spPr>
          <a:xfrm>
            <a:off x="5074920" y="4005072"/>
            <a:ext cx="3474720" cy="365760"/>
          </a:xfrm>
          <a:prstGeom prst="rect">
            <a:avLst/>
          </a:prstGeom>
          <a:noFill/>
          <a:ln/>
        </p:spPr>
        <p:txBody>
          <a:bodyPr wrap="square" lIns="0" tIns="0" rIns="0" bIns="0" rtlCol="0" anchor="t"/>
          <a:lstStyle/>
          <a:p>
            <a:pPr indent="0" marL="0">
              <a:buNone/>
            </a:pPr>
            <a:r>
              <a:rPr lang="en-US" sz="1400" dirty="0">
                <a:solidFill>
                  <a:schemeClr val="accent6"/>
                </a:solidFill>
              </a:rPr>
              <a:t>Quantity and status per warehouse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Why two databases</a:t>
            </a:r>
            <a:endParaRPr lang="en-US" sz="3600" dirty="0"/>
          </a:p>
        </p:txBody>
      </p:sp>
      <p:sp>
        <p:nvSpPr>
          <p:cNvPr id="3" name="Database card 1"/>
          <p:cNvSpPr/>
          <p:nvPr/>
        </p:nvSpPr>
        <p:spPr>
          <a:xfrm>
            <a:off x="457200" y="1188720"/>
            <a:ext cx="2560320" cy="3383280"/>
          </a:xfrm>
          <a:prstGeom prst="roundRect">
            <a:avLst>
              <a:gd name="adj" fmla="val 4286"/>
            </a:avLst>
          </a:prstGeom>
          <a:solidFill>
            <a:schemeClr val="bg2"/>
          </a:solidFill>
          <a:ln/>
        </p:spPr>
      </p:sp>
      <p:sp>
        <p:nvSpPr>
          <p:cNvPr id="4" name="Database chip 1"/>
          <p:cNvSpPr txBox="1"/>
          <p:nvPr/>
        </p:nvSpPr>
        <p:spPr>
          <a:xfrm>
            <a:off x="640080" y="1371600"/>
            <a:ext cx="1097280" cy="274320"/>
          </a:xfrm>
          <a:prstGeom prst="roundRect">
            <a:avLst>
              <a:gd name="adj" fmla="val 46667"/>
            </a:avLst>
          </a:prstGeom>
          <a:solidFill>
            <a:schemeClr val="accent2"/>
          </a:solidFill>
          <a:ln/>
        </p:spPr>
        <p:txBody>
          <a:bodyPr wrap="square" lIns="0" tIns="0" rIns="0" bIns="0" rtlCol="0" anchor="ctr"/>
          <a:lstStyle/>
          <a:p>
            <a:pPr algn="ctr" indent="0" marL="0">
              <a:buNone/>
            </a:pPr>
            <a:r>
              <a:rPr lang="en-US" sz="1200" b="1" dirty="0">
                <a:solidFill>
                  <a:schemeClr val="bg1"/>
                </a:solidFill>
              </a:rPr>
              <a:t>MongoDB</a:t>
            </a:r>
            <a:endParaRPr lang="en-US" sz="1200" dirty="0"/>
          </a:p>
        </p:txBody>
      </p:sp>
      <p:sp>
        <p:nvSpPr>
          <p:cNvPr id="5" name="Database heading 1"/>
          <p:cNvSpPr txBox="1"/>
          <p:nvPr/>
        </p:nvSpPr>
        <p:spPr>
          <a:xfrm>
            <a:off x="640080" y="1783080"/>
            <a:ext cx="2194560" cy="365760"/>
          </a:xfrm>
          <a:prstGeom prst="rect">
            <a:avLst/>
          </a:prstGeom>
          <a:noFill/>
          <a:ln/>
        </p:spPr>
        <p:txBody>
          <a:bodyPr wrap="square" lIns="0" tIns="0" rIns="0" bIns="0" rtlCol="0" anchor="t"/>
          <a:lstStyle/>
          <a:p>
            <a:pPr indent="0" marL="0">
              <a:buNone/>
            </a:pPr>
            <a:r>
              <a:rPr lang="en-US" sz="2000" b="1" dirty="0">
                <a:solidFill>
                  <a:schemeClr val="tx1"/>
                </a:solidFill>
              </a:rPr>
              <a:t>Product catalog</a:t>
            </a:r>
            <a:endParaRPr lang="en-US" sz="2000" dirty="0"/>
          </a:p>
        </p:txBody>
      </p:sp>
      <p:sp>
        <p:nvSpPr>
          <p:cNvPr id="6" name="Database facts 1"/>
          <p:cNvSpPr txBox="1"/>
          <p:nvPr/>
        </p:nvSpPr>
        <p:spPr>
          <a:xfrm>
            <a:off x="640080" y="2240280"/>
            <a:ext cx="219456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Name, brand, price, tags</a:t>
            </a:r>
            <a:endParaRPr lang="en-US" sz="1400" dirty="0"/>
          </a:p>
          <a:p>
            <a:pPr marL="342900" indent="-342900">
              <a:spcAft>
                <a:spcPts val="400"/>
              </a:spcAft>
              <a:buSzPct val="100000"/>
              <a:buChar char="•"/>
            </a:pPr>
            <a:r>
              <a:rPr lang="en-US" sz="1400" dirty="0">
                <a:solidFill>
                  <a:schemeClr val="tx1"/>
                </a:solidFill>
              </a:rPr>
              <a:t>Attributes differ per product</a:t>
            </a:r>
            <a:endParaRPr lang="en-US" sz="1400" dirty="0"/>
          </a:p>
        </p:txBody>
      </p:sp>
      <p:sp>
        <p:nvSpPr>
          <p:cNvPr id="7" name="Why label 1"/>
          <p:cNvSpPr txBox="1"/>
          <p:nvPr/>
        </p:nvSpPr>
        <p:spPr>
          <a:xfrm>
            <a:off x="640080" y="3337560"/>
            <a:ext cx="2194560" cy="228600"/>
          </a:xfrm>
          <a:prstGeom prst="rect">
            <a:avLst/>
          </a:prstGeom>
          <a:noFill/>
          <a:ln/>
        </p:spPr>
        <p:txBody>
          <a:bodyPr wrap="square" lIns="0" tIns="0" rIns="0" bIns="0" rtlCol="0" anchor="t"/>
          <a:lstStyle/>
          <a:p>
            <a:pPr indent="0" marL="0">
              <a:buNone/>
            </a:pPr>
            <a:r>
              <a:rPr lang="en-US" sz="1200" b="1" dirty="0">
                <a:solidFill>
                  <a:schemeClr val="accent2"/>
                </a:solidFill>
              </a:rPr>
              <a:t>WHY</a:t>
            </a:r>
            <a:endParaRPr lang="en-US" sz="1200" dirty="0"/>
          </a:p>
        </p:txBody>
      </p:sp>
      <p:sp>
        <p:nvSpPr>
          <p:cNvPr id="8" name="Why text 1"/>
          <p:cNvSpPr txBox="1"/>
          <p:nvPr/>
        </p:nvSpPr>
        <p:spPr>
          <a:xfrm>
            <a:off x="640080" y="3566160"/>
            <a:ext cx="2194560" cy="914400"/>
          </a:xfrm>
          <a:prstGeom prst="rect">
            <a:avLst/>
          </a:prstGeom>
          <a:noFill/>
          <a:ln/>
        </p:spPr>
        <p:txBody>
          <a:bodyPr wrap="square" lIns="0" tIns="0" rIns="0" bIns="0" rtlCol="0" anchor="t"/>
          <a:lstStyle/>
          <a:p>
            <a:pPr indent="0" marL="0">
              <a:buNone/>
            </a:pPr>
            <a:r>
              <a:rPr lang="en-US" sz="1400" dirty="0">
                <a:solidFill>
                  <a:schemeClr val="tx1"/>
                </a:solidFill>
              </a:rPr>
              <a:t>Documents fit uneven data: a lipstick has a shade, a sunscreen has SPF.</a:t>
            </a:r>
            <a:endParaRPr lang="en-US" sz="1400" dirty="0"/>
          </a:p>
        </p:txBody>
      </p:sp>
      <p:sp>
        <p:nvSpPr>
          <p:cNvPr id="9" name="Database card 2"/>
          <p:cNvSpPr/>
          <p:nvPr/>
        </p:nvSpPr>
        <p:spPr>
          <a:xfrm>
            <a:off x="3291840" y="1188720"/>
            <a:ext cx="2560320" cy="3383280"/>
          </a:xfrm>
          <a:prstGeom prst="roundRect">
            <a:avLst>
              <a:gd name="adj" fmla="val 4286"/>
            </a:avLst>
          </a:prstGeom>
          <a:solidFill>
            <a:schemeClr val="bg2"/>
          </a:solidFill>
          <a:ln/>
        </p:spPr>
      </p:sp>
      <p:sp>
        <p:nvSpPr>
          <p:cNvPr id="10" name="Database chip 2"/>
          <p:cNvSpPr txBox="1"/>
          <p:nvPr/>
        </p:nvSpPr>
        <p:spPr>
          <a:xfrm>
            <a:off x="3474720" y="1371600"/>
            <a:ext cx="1097280" cy="274320"/>
          </a:xfrm>
          <a:prstGeom prst="roundRect">
            <a:avLst>
              <a:gd name="adj" fmla="val 46667"/>
            </a:avLst>
          </a:prstGeom>
          <a:solidFill>
            <a:schemeClr val="accent2"/>
          </a:solidFill>
          <a:ln/>
        </p:spPr>
        <p:txBody>
          <a:bodyPr wrap="square" lIns="0" tIns="0" rIns="0" bIns="0" rtlCol="0" anchor="ctr"/>
          <a:lstStyle/>
          <a:p>
            <a:pPr algn="ctr" indent="0" marL="0">
              <a:buNone/>
            </a:pPr>
            <a:r>
              <a:rPr lang="en-US" sz="1200" b="1" dirty="0">
                <a:solidFill>
                  <a:schemeClr val="bg1"/>
                </a:solidFill>
              </a:rPr>
              <a:t>MongoDB</a:t>
            </a:r>
            <a:endParaRPr lang="en-US" sz="1200" dirty="0"/>
          </a:p>
        </p:txBody>
      </p:sp>
      <p:sp>
        <p:nvSpPr>
          <p:cNvPr id="11" name="Database heading 2"/>
          <p:cNvSpPr txBox="1"/>
          <p:nvPr/>
        </p:nvSpPr>
        <p:spPr>
          <a:xfrm>
            <a:off x="3474720" y="1783080"/>
            <a:ext cx="2194560" cy="365760"/>
          </a:xfrm>
          <a:prstGeom prst="rect">
            <a:avLst/>
          </a:prstGeom>
          <a:noFill/>
          <a:ln/>
        </p:spPr>
        <p:txBody>
          <a:bodyPr wrap="square" lIns="0" tIns="0" rIns="0" bIns="0" rtlCol="0" anchor="t"/>
          <a:lstStyle/>
          <a:p>
            <a:pPr indent="0" marL="0">
              <a:buNone/>
            </a:pPr>
            <a:r>
              <a:rPr lang="en-US" sz="2000" b="1" dirty="0">
                <a:solidFill>
                  <a:schemeClr val="tx1"/>
                </a:solidFill>
              </a:rPr>
              <a:t>Stock levels</a:t>
            </a:r>
            <a:endParaRPr lang="en-US" sz="2000" dirty="0"/>
          </a:p>
        </p:txBody>
      </p:sp>
      <p:sp>
        <p:nvSpPr>
          <p:cNvPr id="12" name="Database facts 2"/>
          <p:cNvSpPr txBox="1"/>
          <p:nvPr/>
        </p:nvSpPr>
        <p:spPr>
          <a:xfrm>
            <a:off x="3474720" y="2240280"/>
            <a:ext cx="219456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Quantity per SKU per warehouse</a:t>
            </a:r>
            <a:endParaRPr lang="en-US" sz="1400" dirty="0"/>
          </a:p>
          <a:p>
            <a:pPr marL="342900" indent="-342900">
              <a:spcAft>
                <a:spcPts val="400"/>
              </a:spcAft>
              <a:buSzPct val="100000"/>
              <a:buChar char="•"/>
            </a:pPr>
            <a:r>
              <a:rPr lang="en-US" sz="1400" dirty="0">
                <a:solidFill>
                  <a:schemeClr val="tx1"/>
                </a:solidFill>
              </a:rPr>
              <a:t>Reorder level gives OK, LOW, OUT</a:t>
            </a:r>
            <a:endParaRPr lang="en-US" sz="1400" dirty="0"/>
          </a:p>
        </p:txBody>
      </p:sp>
      <p:sp>
        <p:nvSpPr>
          <p:cNvPr id="13" name="Why label 2"/>
          <p:cNvSpPr txBox="1"/>
          <p:nvPr/>
        </p:nvSpPr>
        <p:spPr>
          <a:xfrm>
            <a:off x="3474720" y="3337560"/>
            <a:ext cx="2194560" cy="228600"/>
          </a:xfrm>
          <a:prstGeom prst="rect">
            <a:avLst/>
          </a:prstGeom>
          <a:noFill/>
          <a:ln/>
        </p:spPr>
        <p:txBody>
          <a:bodyPr wrap="square" lIns="0" tIns="0" rIns="0" bIns="0" rtlCol="0" anchor="t"/>
          <a:lstStyle/>
          <a:p>
            <a:pPr indent="0" marL="0">
              <a:buNone/>
            </a:pPr>
            <a:r>
              <a:rPr lang="en-US" sz="1200" b="1" dirty="0">
                <a:solidFill>
                  <a:schemeClr val="accent2"/>
                </a:solidFill>
              </a:rPr>
              <a:t>WHY</a:t>
            </a:r>
            <a:endParaRPr lang="en-US" sz="1200" dirty="0"/>
          </a:p>
        </p:txBody>
      </p:sp>
      <p:sp>
        <p:nvSpPr>
          <p:cNvPr id="14" name="Why text 2"/>
          <p:cNvSpPr txBox="1"/>
          <p:nvPr/>
        </p:nvSpPr>
        <p:spPr>
          <a:xfrm>
            <a:off x="3474720" y="3566160"/>
            <a:ext cx="2194560" cy="914400"/>
          </a:xfrm>
          <a:prstGeom prst="rect">
            <a:avLst/>
          </a:prstGeom>
          <a:noFill/>
          <a:ln/>
        </p:spPr>
        <p:txBody>
          <a:bodyPr wrap="square" lIns="0" tIns="0" rIns="0" bIns="0" rtlCol="0" anchor="t"/>
          <a:lstStyle/>
          <a:p>
            <a:pPr indent="0" marL="0">
              <a:buNone/>
            </a:pPr>
            <a:r>
              <a:rPr lang="en-US" sz="1400" dirty="0">
                <a:solidFill>
                  <a:schemeClr val="tx1"/>
                </a:solidFill>
              </a:rPr>
              <a:t>A validator blocks negative stock; one row per SKU and warehouse.</a:t>
            </a:r>
            <a:endParaRPr lang="en-US" sz="1400" dirty="0"/>
          </a:p>
        </p:txBody>
      </p:sp>
      <p:sp>
        <p:nvSpPr>
          <p:cNvPr id="15" name="Database card 3"/>
          <p:cNvSpPr/>
          <p:nvPr/>
        </p:nvSpPr>
        <p:spPr>
          <a:xfrm>
            <a:off x="6126480" y="1188720"/>
            <a:ext cx="2560320" cy="3383280"/>
          </a:xfrm>
          <a:prstGeom prst="roundRect">
            <a:avLst>
              <a:gd name="adj" fmla="val 4286"/>
            </a:avLst>
          </a:prstGeom>
          <a:solidFill>
            <a:schemeClr val="bg2"/>
          </a:solidFill>
          <a:ln/>
        </p:spPr>
      </p:sp>
      <p:sp>
        <p:nvSpPr>
          <p:cNvPr id="16" name="Database chip 3"/>
          <p:cNvSpPr txBox="1"/>
          <p:nvPr/>
        </p:nvSpPr>
        <p:spPr>
          <a:xfrm>
            <a:off x="6309360" y="1371600"/>
            <a:ext cx="822960" cy="274320"/>
          </a:xfrm>
          <a:prstGeom prst="roundRect">
            <a:avLst>
              <a:gd name="adj" fmla="val 46667"/>
            </a:avLst>
          </a:prstGeom>
          <a:solidFill>
            <a:schemeClr val="accent3"/>
          </a:solidFill>
          <a:ln/>
        </p:spPr>
        <p:txBody>
          <a:bodyPr wrap="square" lIns="0" tIns="0" rIns="0" bIns="0" rtlCol="0" anchor="ctr"/>
          <a:lstStyle/>
          <a:p>
            <a:pPr algn="ctr" indent="0" marL="0">
              <a:buNone/>
            </a:pPr>
            <a:r>
              <a:rPr lang="en-US" sz="1200" b="1" dirty="0">
                <a:solidFill>
                  <a:schemeClr val="bg1"/>
                </a:solidFill>
              </a:rPr>
              <a:t>Neo4j</a:t>
            </a:r>
            <a:endParaRPr lang="en-US" sz="1200" dirty="0"/>
          </a:p>
        </p:txBody>
      </p:sp>
      <p:sp>
        <p:nvSpPr>
          <p:cNvPr id="17" name="Database heading 3"/>
          <p:cNvSpPr txBox="1"/>
          <p:nvPr/>
        </p:nvSpPr>
        <p:spPr>
          <a:xfrm>
            <a:off x="6309360" y="1783080"/>
            <a:ext cx="2194560" cy="365760"/>
          </a:xfrm>
          <a:prstGeom prst="rect">
            <a:avLst/>
          </a:prstGeom>
          <a:noFill/>
          <a:ln/>
        </p:spPr>
        <p:txBody>
          <a:bodyPr wrap="square" lIns="0" tIns="0" rIns="0" bIns="0" rtlCol="0" anchor="t"/>
          <a:lstStyle/>
          <a:p>
            <a:pPr indent="0" marL="0">
              <a:buNone/>
            </a:pPr>
            <a:r>
              <a:rPr lang="en-US" sz="2000" b="1" dirty="0">
                <a:solidFill>
                  <a:schemeClr val="tx1"/>
                </a:solidFill>
              </a:rPr>
              <a:t>Category graph</a:t>
            </a:r>
            <a:endParaRPr lang="en-US" sz="2000" dirty="0"/>
          </a:p>
        </p:txBody>
      </p:sp>
      <p:sp>
        <p:nvSpPr>
          <p:cNvPr id="18" name="Database facts 3"/>
          <p:cNvSpPr txBox="1"/>
          <p:nvPr/>
        </p:nvSpPr>
        <p:spPr>
          <a:xfrm>
            <a:off x="6309360" y="2240280"/>
            <a:ext cx="219456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Category tree</a:t>
            </a:r>
            <a:endParaRPr lang="en-US" sz="1400" dirty="0"/>
          </a:p>
          <a:p>
            <a:pPr marL="342900" indent="-342900">
              <a:spcAft>
                <a:spcPts val="400"/>
              </a:spcAft>
              <a:buSzPct val="100000"/>
              <a:buChar char="•"/>
            </a:pPr>
            <a:r>
              <a:rPr lang="en-US" sz="1400" dirty="0">
                <a:solidFill>
                  <a:schemeClr val="tx1"/>
                </a:solidFill>
              </a:rPr>
              <a:t>BOUGHT_TOGETHER and SIMILAR_TO links</a:t>
            </a:r>
            <a:endParaRPr lang="en-US" sz="1400" dirty="0"/>
          </a:p>
        </p:txBody>
      </p:sp>
      <p:sp>
        <p:nvSpPr>
          <p:cNvPr id="19" name="Why label 3"/>
          <p:cNvSpPr txBox="1"/>
          <p:nvPr/>
        </p:nvSpPr>
        <p:spPr>
          <a:xfrm>
            <a:off x="6309360" y="3337560"/>
            <a:ext cx="2194560" cy="228600"/>
          </a:xfrm>
          <a:prstGeom prst="rect">
            <a:avLst/>
          </a:prstGeom>
          <a:noFill/>
          <a:ln/>
        </p:spPr>
        <p:txBody>
          <a:bodyPr wrap="square" lIns="0" tIns="0" rIns="0" bIns="0" rtlCol="0" anchor="t"/>
          <a:lstStyle/>
          <a:p>
            <a:pPr indent="0" marL="0">
              <a:buNone/>
            </a:pPr>
            <a:r>
              <a:rPr lang="en-US" sz="1200" b="1" dirty="0">
                <a:solidFill>
                  <a:schemeClr val="accent3"/>
                </a:solidFill>
              </a:rPr>
              <a:t>WHY</a:t>
            </a:r>
            <a:endParaRPr lang="en-US" sz="1200" dirty="0"/>
          </a:p>
        </p:txBody>
      </p:sp>
      <p:sp>
        <p:nvSpPr>
          <p:cNvPr id="20" name="Why text 3"/>
          <p:cNvSpPr txBox="1"/>
          <p:nvPr/>
        </p:nvSpPr>
        <p:spPr>
          <a:xfrm>
            <a:off x="6309360" y="3566160"/>
            <a:ext cx="2194560" cy="914400"/>
          </a:xfrm>
          <a:prstGeom prst="rect">
            <a:avLst/>
          </a:prstGeom>
          <a:noFill/>
          <a:ln/>
        </p:spPr>
        <p:txBody>
          <a:bodyPr wrap="square" lIns="0" tIns="0" rIns="0" bIns="0" rtlCol="0" anchor="t"/>
          <a:lstStyle/>
          <a:p>
            <a:pPr indent="0" marL="0">
              <a:buNone/>
            </a:pPr>
            <a:r>
              <a:rPr lang="en-US" sz="1400" dirty="0">
                <a:solidFill>
                  <a:schemeClr val="tx1"/>
                </a:solidFill>
              </a:rPr>
              <a:t>“Everything under Makeup” is one graph walk, not many joins.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Architecture</a:t>
            </a:r>
            <a:endParaRPr lang="en-US" sz="3600" dirty="0"/>
          </a:p>
        </p:txBody>
      </p:sp>
      <p:sp>
        <p:nvSpPr>
          <p:cNvPr id="3" name="Browser box"/>
          <p:cNvSpPr/>
          <p:nvPr/>
        </p:nvSpPr>
        <p:spPr>
          <a:xfrm>
            <a:off x="457200" y="1600200"/>
            <a:ext cx="1554480" cy="914400"/>
          </a:xfrm>
          <a:prstGeom prst="roundRect">
            <a:avLst>
              <a:gd name="adj" fmla="val 12000"/>
            </a:avLst>
          </a:prstGeom>
          <a:solidFill>
            <a:schemeClr val="bg2"/>
          </a:solidFill>
          <a:ln/>
        </p:spPr>
      </p:sp>
      <p:sp>
        <p:nvSpPr>
          <p:cNvPr id="4" name="Browser label"/>
          <p:cNvSpPr txBox="1"/>
          <p:nvPr/>
        </p:nvSpPr>
        <p:spPr>
          <a:xfrm>
            <a:off x="457200" y="1737360"/>
            <a:ext cx="1554480" cy="320040"/>
          </a:xfrm>
          <a:prstGeom prst="rect">
            <a:avLst/>
          </a:prstGeom>
          <a:noFill/>
          <a:ln/>
        </p:spPr>
        <p:txBody>
          <a:bodyPr wrap="square" lIns="0" tIns="0" rIns="0" bIns="0" rtlCol="0" anchor="t"/>
          <a:lstStyle/>
          <a:p>
            <a:pPr algn="ctr" indent="0" marL="0">
              <a:buNone/>
            </a:pPr>
            <a:r>
              <a:rPr lang="en-US" sz="1800" b="1" dirty="0">
                <a:solidFill>
                  <a:schemeClr val="tx1"/>
                </a:solidFill>
              </a:rPr>
              <a:t>Browser</a:t>
            </a:r>
            <a:endParaRPr lang="en-US" sz="1800" dirty="0"/>
          </a:p>
        </p:txBody>
      </p:sp>
      <p:sp>
        <p:nvSpPr>
          <p:cNvPr id="5" name="Browser note"/>
          <p:cNvSpPr txBox="1"/>
          <p:nvPr/>
        </p:nvSpPr>
        <p:spPr>
          <a:xfrm>
            <a:off x="457200" y="2103120"/>
            <a:ext cx="1554480" cy="274320"/>
          </a:xfrm>
          <a:prstGeom prst="rect">
            <a:avLst/>
          </a:prstGeom>
          <a:noFill/>
          <a:ln/>
        </p:spPr>
        <p:txBody>
          <a:bodyPr wrap="square" lIns="0" tIns="0" rIns="0" bIns="0" rtlCol="0" anchor="t"/>
          <a:lstStyle/>
          <a:p>
            <a:pPr algn="ctr" indent="0" marL="0">
              <a:buNone/>
            </a:pPr>
            <a:r>
              <a:rPr lang="en-US" sz="1200" dirty="0">
                <a:solidFill>
                  <a:schemeClr val="accent6"/>
                </a:solidFill>
              </a:rPr>
              <a:t>one HTML page</a:t>
            </a:r>
            <a:endParaRPr lang="en-US" sz="1200" dirty="0"/>
          </a:p>
        </p:txBody>
      </p:sp>
      <p:sp>
        <p:nvSpPr>
          <p:cNvPr id="6" name="Arrow browser mediator"/>
          <p:cNvSpPr/>
          <p:nvPr/>
        </p:nvSpPr>
        <p:spPr>
          <a:xfrm>
            <a:off x="2011680" y="2057400"/>
            <a:ext cx="640080" cy="0"/>
          </a:xfrm>
          <a:prstGeom prst="line">
            <a:avLst/>
          </a:prstGeom>
          <a:noFill/>
          <a:ln w="25400">
            <a:solidFill>
              <a:schemeClr val="accent6"/>
            </a:solidFill>
            <a:prstDash val="solid"/>
            <a:headEnd type="triangle"/>
            <a:tailEnd type="triangle"/>
          </a:ln>
        </p:spPr>
      </p:sp>
      <p:sp>
        <p:nvSpPr>
          <p:cNvPr id="7" name="Mediator box"/>
          <p:cNvSpPr/>
          <p:nvPr/>
        </p:nvSpPr>
        <p:spPr>
          <a:xfrm>
            <a:off x="2651760" y="1325880"/>
            <a:ext cx="2743200" cy="1463040"/>
          </a:xfrm>
          <a:prstGeom prst="roundRect">
            <a:avLst>
              <a:gd name="adj" fmla="val 7500"/>
            </a:avLst>
          </a:prstGeom>
          <a:solidFill>
            <a:schemeClr val="accent1"/>
          </a:solidFill>
          <a:ln/>
          <a:effectLst>
            <a:outerShdw sx="100000" sy="100000" kx="0" ky="0" algn="bl" rotWithShape="0" blurRad="101600" dist="25400" dir="5400000">
              <a:srgbClr val="000000">
                <a:alpha val="18000"/>
              </a:srgbClr>
            </a:outerShdw>
          </a:effectLst>
        </p:spPr>
      </p:sp>
      <p:sp>
        <p:nvSpPr>
          <p:cNvPr id="8" name="Mediator label"/>
          <p:cNvSpPr txBox="1"/>
          <p:nvPr/>
        </p:nvSpPr>
        <p:spPr>
          <a:xfrm>
            <a:off x="2651760" y="1554480"/>
            <a:ext cx="2743200" cy="365760"/>
          </a:xfrm>
          <a:prstGeom prst="rect">
            <a:avLst/>
          </a:prstGeom>
          <a:noFill/>
          <a:ln/>
        </p:spPr>
        <p:txBody>
          <a:bodyPr wrap="square" lIns="0" tIns="0" rIns="0" bIns="0" rtlCol="0" anchor="t"/>
          <a:lstStyle/>
          <a:p>
            <a:pPr algn="ctr" indent="0" marL="0">
              <a:buNone/>
            </a:pPr>
            <a:r>
              <a:rPr lang="en-US" sz="2000" b="1" dirty="0">
                <a:solidFill>
                  <a:schemeClr val="bg1"/>
                </a:solidFill>
              </a:rPr>
              <a:t>FastAPI mediator</a:t>
            </a:r>
            <a:endParaRPr lang="en-US" sz="2000" dirty="0"/>
          </a:p>
        </p:txBody>
      </p:sp>
      <p:sp>
        <p:nvSpPr>
          <p:cNvPr id="9" name="Mediator note"/>
          <p:cNvSpPr txBox="1"/>
          <p:nvPr/>
        </p:nvSpPr>
        <p:spPr>
          <a:xfrm>
            <a:off x="2834640" y="2011680"/>
            <a:ext cx="2377440" cy="640080"/>
          </a:xfrm>
          <a:prstGeom prst="rect">
            <a:avLst/>
          </a:prstGeom>
          <a:noFill/>
          <a:ln/>
        </p:spPr>
        <p:txBody>
          <a:bodyPr wrap="square" lIns="0" tIns="0" rIns="0" bIns="0" rtlCol="0" anchor="t"/>
          <a:lstStyle/>
          <a:p>
            <a:pPr algn="ctr" indent="0" marL="0">
              <a:buNone/>
            </a:pPr>
            <a:r>
              <a:rPr lang="en-US" sz="1400" dirty="0">
                <a:solidFill>
                  <a:schemeClr val="bg1"/>
                </a:solidFill>
              </a:rPr>
              <a:t>asks both databases, builds XML, validates it</a:t>
            </a:r>
            <a:endParaRPr lang="en-US" sz="1400" dirty="0"/>
          </a:p>
        </p:txBody>
      </p:sp>
      <p:sp>
        <p:nvSpPr>
          <p:cNvPr id="10" name="MongoDB box"/>
          <p:cNvSpPr txBox="1"/>
          <p:nvPr/>
        </p:nvSpPr>
        <p:spPr>
          <a:xfrm>
            <a:off x="6675120" y="1325880"/>
            <a:ext cx="2011680" cy="640080"/>
          </a:xfrm>
          <a:prstGeom prst="roundRect">
            <a:avLst>
              <a:gd name="adj" fmla="val 17143"/>
            </a:avLst>
          </a:prstGeom>
          <a:solidFill>
            <a:schemeClr val="accent2"/>
          </a:solidFill>
          <a:ln/>
        </p:spPr>
        <p:txBody>
          <a:bodyPr wrap="square" lIns="635" tIns="635" rIns="635" bIns="635" rtlCol="0" anchor="ctr"/>
          <a:lstStyle/>
          <a:p>
            <a:pPr algn="ctr" indent="0" marL="0">
              <a:buNone/>
            </a:pPr>
            <a:r>
              <a:rPr lang="en-US" sz="1600" b="1" dirty="0">
                <a:solidFill>
                  <a:schemeClr val="bg1"/>
                </a:solidFill>
              </a:rPr>
              <a:t>MongoDB</a:t>
            </a:r>
            <a:endParaRPr lang="en-US" sz="1600" dirty="0"/>
          </a:p>
          <a:p>
            <a:pPr algn="ctr" indent="0" marL="0">
              <a:buNone/>
            </a:pPr>
            <a:r>
              <a:rPr lang="en-US" sz="1400" dirty="0">
                <a:solidFill>
                  <a:schemeClr val="bg1"/>
                </a:solidFill>
              </a:rPr>
              <a:t>catalog and stock</a:t>
            </a:r>
            <a:endParaRPr lang="en-US" sz="1600" dirty="0"/>
          </a:p>
        </p:txBody>
      </p:sp>
      <p:sp>
        <p:nvSpPr>
          <p:cNvPr id="11" name="Neo4j box"/>
          <p:cNvSpPr txBox="1"/>
          <p:nvPr/>
        </p:nvSpPr>
        <p:spPr>
          <a:xfrm>
            <a:off x="6675120" y="2148840"/>
            <a:ext cx="2011680" cy="640080"/>
          </a:xfrm>
          <a:prstGeom prst="roundRect">
            <a:avLst>
              <a:gd name="adj" fmla="val 17143"/>
            </a:avLst>
          </a:prstGeom>
          <a:solidFill>
            <a:schemeClr val="accent3"/>
          </a:solidFill>
          <a:ln/>
        </p:spPr>
        <p:txBody>
          <a:bodyPr wrap="square" lIns="635" tIns="635" rIns="635" bIns="635" rtlCol="0" anchor="ctr"/>
          <a:lstStyle/>
          <a:p>
            <a:pPr algn="ctr" indent="0" marL="0">
              <a:buNone/>
            </a:pPr>
            <a:r>
              <a:rPr lang="en-US" sz="1600" b="1" dirty="0">
                <a:solidFill>
                  <a:schemeClr val="bg1"/>
                </a:solidFill>
              </a:rPr>
              <a:t>Neo4j</a:t>
            </a:r>
            <a:endParaRPr lang="en-US" sz="1600" dirty="0"/>
          </a:p>
          <a:p>
            <a:pPr algn="ctr" indent="0" marL="0">
              <a:buNone/>
            </a:pPr>
            <a:r>
              <a:rPr lang="en-US" sz="1400" dirty="0">
                <a:solidFill>
                  <a:schemeClr val="bg1"/>
                </a:solidFill>
              </a:rPr>
              <a:t>categories and links</a:t>
            </a:r>
            <a:endParaRPr lang="en-US" sz="1600" dirty="0"/>
          </a:p>
        </p:txBody>
      </p:sp>
      <p:sp>
        <p:nvSpPr>
          <p:cNvPr id="12" name="Arrow mediator MongoDB"/>
          <p:cNvSpPr/>
          <p:nvPr/>
        </p:nvSpPr>
        <p:spPr>
          <a:xfrm>
            <a:off x="5394960" y="1645920"/>
            <a:ext cx="1280160" cy="0"/>
          </a:xfrm>
          <a:prstGeom prst="line">
            <a:avLst/>
          </a:prstGeom>
          <a:noFill/>
          <a:ln w="25400">
            <a:solidFill>
              <a:schemeClr val="accent6"/>
            </a:solidFill>
            <a:prstDash val="solid"/>
            <a:headEnd type="triangle"/>
            <a:tailEnd type="triangle"/>
          </a:ln>
        </p:spPr>
      </p:sp>
      <p:sp>
        <p:nvSpPr>
          <p:cNvPr id="13" name="Arrow mediator Neo4j"/>
          <p:cNvSpPr/>
          <p:nvPr/>
        </p:nvSpPr>
        <p:spPr>
          <a:xfrm>
            <a:off x="5394960" y="2468880"/>
            <a:ext cx="1280160" cy="0"/>
          </a:xfrm>
          <a:prstGeom prst="line">
            <a:avLst/>
          </a:prstGeom>
          <a:noFill/>
          <a:ln w="25400">
            <a:solidFill>
              <a:schemeClr val="accent6"/>
            </a:solidFill>
            <a:prstDash val="solid"/>
            <a:headEnd type="triangle"/>
            <a:tailEnd type="triangle"/>
          </a:ln>
        </p:spPr>
      </p:sp>
      <p:sp>
        <p:nvSpPr>
          <p:cNvPr id="14" name="Pipeline label"/>
          <p:cNvSpPr txBox="1"/>
          <p:nvPr/>
        </p:nvSpPr>
        <p:spPr>
          <a:xfrm>
            <a:off x="457200" y="3017520"/>
            <a:ext cx="8229600" cy="274320"/>
          </a:xfrm>
          <a:prstGeom prst="rect">
            <a:avLst/>
          </a:prstGeom>
          <a:noFill/>
          <a:ln/>
        </p:spPr>
        <p:txBody>
          <a:bodyPr wrap="square" lIns="0" tIns="0" rIns="0" bIns="0" rtlCol="0" anchor="t"/>
          <a:lstStyle/>
          <a:p>
            <a:pPr indent="0" marL="0">
              <a:buNone/>
            </a:pPr>
            <a:r>
              <a:rPr lang="en-US" sz="1400" b="1" dirty="0">
                <a:solidFill>
                  <a:schemeClr val="accent6"/>
                </a:solidFill>
              </a:rPr>
              <a:t>What the mediator does with the answers</a:t>
            </a:r>
            <a:endParaRPr lang="en-US" sz="1400" dirty="0"/>
          </a:p>
        </p:txBody>
      </p:sp>
      <p:sp>
        <p:nvSpPr>
          <p:cNvPr id="15" name="Pipeline step 1"/>
          <p:cNvSpPr txBox="1"/>
          <p:nvPr/>
        </p:nvSpPr>
        <p:spPr>
          <a:xfrm>
            <a:off x="457200" y="3383280"/>
            <a:ext cx="1828800" cy="731520"/>
          </a:xfrm>
          <a:prstGeom prst="roundRect">
            <a:avLst>
              <a:gd name="adj" fmla="val 15000"/>
            </a:avLst>
          </a:prstGeom>
          <a:solidFill>
            <a:schemeClr val="bg2"/>
          </a:solidFill>
          <a:ln/>
        </p:spPr>
        <p:txBody>
          <a:bodyPr wrap="square" lIns="0" tIns="0" rIns="0" bIns="0" rtlCol="0" anchor="ctr"/>
          <a:lstStyle/>
          <a:p>
            <a:pPr algn="ctr" indent="0" marL="0">
              <a:buNone/>
            </a:pPr>
            <a:r>
              <a:rPr lang="en-US" sz="1600" b="1" dirty="0">
                <a:solidFill>
                  <a:schemeClr val="tx1"/>
                </a:solidFill>
              </a:rPr>
              <a:t>XML pieces</a:t>
            </a:r>
            <a:endParaRPr lang="en-US" sz="1600" dirty="0"/>
          </a:p>
        </p:txBody>
      </p:sp>
      <p:sp>
        <p:nvSpPr>
          <p:cNvPr id="16" name="Pipeline arrow 1"/>
          <p:cNvSpPr/>
          <p:nvPr/>
        </p:nvSpPr>
        <p:spPr>
          <a:xfrm>
            <a:off x="2286000" y="3749040"/>
            <a:ext cx="301752" cy="0"/>
          </a:xfrm>
          <a:prstGeom prst="line">
            <a:avLst/>
          </a:prstGeom>
          <a:noFill/>
          <a:ln w="31750">
            <a:solidFill>
              <a:schemeClr val="accent1"/>
            </a:solidFill>
            <a:prstDash val="solid"/>
            <a:tailEnd type="triangle"/>
          </a:ln>
        </p:spPr>
      </p:sp>
      <p:sp>
        <p:nvSpPr>
          <p:cNvPr id="17" name="Pipeline step 2"/>
          <p:cNvSpPr txBox="1"/>
          <p:nvPr/>
        </p:nvSpPr>
        <p:spPr>
          <a:xfrm>
            <a:off x="2587752" y="3383280"/>
            <a:ext cx="1828800" cy="731520"/>
          </a:xfrm>
          <a:prstGeom prst="roundRect">
            <a:avLst>
              <a:gd name="adj" fmla="val 15000"/>
            </a:avLst>
          </a:prstGeom>
          <a:solidFill>
            <a:schemeClr val="bg2"/>
          </a:solidFill>
          <a:ln/>
        </p:spPr>
        <p:txBody>
          <a:bodyPr wrap="square" lIns="0" tIns="0" rIns="0" bIns="0" rtlCol="0" anchor="ctr"/>
          <a:lstStyle/>
          <a:p>
            <a:pPr algn="ctr" indent="0" marL="0">
              <a:buNone/>
            </a:pPr>
            <a:r>
              <a:rPr lang="en-US" sz="1600" b="1" dirty="0">
                <a:solidFill>
                  <a:schemeClr val="tx1"/>
                </a:solidFill>
              </a:rPr>
              <a:t>Merge by SKU</a:t>
            </a:r>
            <a:endParaRPr lang="en-US" sz="1600" dirty="0"/>
          </a:p>
        </p:txBody>
      </p:sp>
      <p:sp>
        <p:nvSpPr>
          <p:cNvPr id="18" name="Pipeline arrow 2"/>
          <p:cNvSpPr/>
          <p:nvPr/>
        </p:nvSpPr>
        <p:spPr>
          <a:xfrm>
            <a:off x="4416552" y="3749040"/>
            <a:ext cx="301752" cy="0"/>
          </a:xfrm>
          <a:prstGeom prst="line">
            <a:avLst/>
          </a:prstGeom>
          <a:noFill/>
          <a:ln w="31750">
            <a:solidFill>
              <a:schemeClr val="accent1"/>
            </a:solidFill>
            <a:prstDash val="solid"/>
            <a:tailEnd type="triangle"/>
          </a:ln>
        </p:spPr>
      </p:sp>
      <p:sp>
        <p:nvSpPr>
          <p:cNvPr id="19" name="Pipeline step 3"/>
          <p:cNvSpPr txBox="1"/>
          <p:nvPr/>
        </p:nvSpPr>
        <p:spPr>
          <a:xfrm>
            <a:off x="4718304" y="3383280"/>
            <a:ext cx="1828800" cy="731520"/>
          </a:xfrm>
          <a:prstGeom prst="roundRect">
            <a:avLst>
              <a:gd name="adj" fmla="val 15000"/>
            </a:avLst>
          </a:prstGeom>
          <a:solidFill>
            <a:schemeClr val="bg2"/>
          </a:solidFill>
          <a:ln/>
        </p:spPr>
        <p:txBody>
          <a:bodyPr wrap="square" lIns="0" tIns="0" rIns="0" bIns="0" rtlCol="0" anchor="ctr"/>
          <a:lstStyle/>
          <a:p>
            <a:pPr algn="ctr" indent="0" marL="0">
              <a:buNone/>
            </a:pPr>
            <a:r>
              <a:rPr lang="en-US" sz="1600" b="1" dirty="0">
                <a:solidFill>
                  <a:schemeClr val="tx1"/>
                </a:solidFill>
              </a:rPr>
              <a:t>Validate (XSD)</a:t>
            </a:r>
            <a:endParaRPr lang="en-US" sz="1600" dirty="0"/>
          </a:p>
        </p:txBody>
      </p:sp>
      <p:sp>
        <p:nvSpPr>
          <p:cNvPr id="20" name="Pipeline arrow 3"/>
          <p:cNvSpPr/>
          <p:nvPr/>
        </p:nvSpPr>
        <p:spPr>
          <a:xfrm>
            <a:off x="6547104" y="3749040"/>
            <a:ext cx="301752" cy="0"/>
          </a:xfrm>
          <a:prstGeom prst="line">
            <a:avLst/>
          </a:prstGeom>
          <a:noFill/>
          <a:ln w="31750">
            <a:solidFill>
              <a:schemeClr val="accent1"/>
            </a:solidFill>
            <a:prstDash val="solid"/>
            <a:tailEnd type="triangle"/>
          </a:ln>
        </p:spPr>
      </p:sp>
      <p:sp>
        <p:nvSpPr>
          <p:cNvPr id="21" name="Pipeline step 4"/>
          <p:cNvSpPr txBox="1"/>
          <p:nvPr/>
        </p:nvSpPr>
        <p:spPr>
          <a:xfrm>
            <a:off x="6848856" y="3383280"/>
            <a:ext cx="1828800" cy="731520"/>
          </a:xfrm>
          <a:prstGeom prst="roundRect">
            <a:avLst>
              <a:gd name="adj" fmla="val 15000"/>
            </a:avLst>
          </a:prstGeom>
          <a:solidFill>
            <a:schemeClr val="bg2"/>
          </a:solidFill>
          <a:ln/>
        </p:spPr>
        <p:txBody>
          <a:bodyPr wrap="square" lIns="0" tIns="0" rIns="0" bIns="0" rtlCol="0" anchor="ctr"/>
          <a:lstStyle/>
          <a:p>
            <a:pPr algn="ctr" indent="0" marL="0">
              <a:buNone/>
            </a:pPr>
            <a:r>
              <a:rPr lang="en-US" sz="1600" b="1" dirty="0">
                <a:solidFill>
                  <a:schemeClr val="tx1"/>
                </a:solidFill>
              </a:rPr>
              <a:t>JSON + trace</a:t>
            </a:r>
            <a:endParaRPr lang="en-US" sz="1600" dirty="0"/>
          </a:p>
        </p:txBody>
      </p:sp>
      <p:sp>
        <p:nvSpPr>
          <p:cNvPr id="22" name="Architecture takeaway"/>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400" dirty="0">
                <a:solidFill>
                  <a:schemeClr val="accent6"/>
                </a:solidFill>
              </a:rPr>
              <a:t>The browser never talks to a database. Only the mediator does.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Live demo</a:t>
            </a:r>
            <a:endParaRPr lang="en-US" sz="3600" dirty="0"/>
          </a:p>
        </p:txBody>
      </p:sp>
      <p:pic>
        <p:nvPicPr>
          <p:cNvPr id="3" name="Image 0" descr="Search page showing LIP-001 with catalog, stock, category path and query trace">    </p:cNvPr>
          <p:cNvPicPr>
            <a:picLocks noChangeAspect="1"/>
          </p:cNvPicPr>
          <p:nvPr/>
        </p:nvPicPr>
        <p:blipFill>
          <a:blip r:embed="rId1"/>
          <a:stretch>
            <a:fillRect/>
          </a:stretch>
        </p:blipFill>
        <p:spPr>
          <a:xfrm>
            <a:off x="457200" y="1188720"/>
            <a:ext cx="4206240" cy="3364992"/>
          </a:xfrm>
          <a:prstGeom prst="rect">
            <a:avLst/>
          </a:prstGeom>
          <a:effectLst>
            <a:outerShdw sx="100000" sy="100000" kx="0" ky="0" algn="bl" rotWithShape="0" blurRad="101600" dist="25400" dir="5400000">
              <a:srgbClr val="000000">
                <a:alpha val="18000"/>
              </a:srgbClr>
            </a:outerShdw>
          </a:effectLst>
        </p:spPr>
      </p:pic>
      <p:sp>
        <p:nvSpPr>
          <p:cNvPr id="4" name="Demo heading"/>
          <p:cNvSpPr txBox="1"/>
          <p:nvPr/>
        </p:nvSpPr>
        <p:spPr>
          <a:xfrm>
            <a:off x="5029200" y="1188720"/>
            <a:ext cx="3657600" cy="365760"/>
          </a:xfrm>
          <a:prstGeom prst="rect">
            <a:avLst/>
          </a:prstGeom>
          <a:noFill/>
          <a:ln/>
        </p:spPr>
        <p:txBody>
          <a:bodyPr wrap="square" lIns="0" tIns="0" rIns="0" bIns="0" rtlCol="0" anchor="t"/>
          <a:lstStyle/>
          <a:p>
            <a:pPr indent="0" marL="0">
              <a:buNone/>
            </a:pPr>
            <a:r>
              <a:rPr lang="en-US" sz="2000" b="1" dirty="0">
                <a:solidFill>
                  <a:schemeClr val="tx1"/>
                </a:solidFill>
              </a:rPr>
              <a:t>Demo script</a:t>
            </a:r>
            <a:endParaRPr lang="en-US" sz="2000" dirty="0"/>
          </a:p>
        </p:txBody>
      </p:sp>
      <p:sp>
        <p:nvSpPr>
          <p:cNvPr id="5" name="Demo steps"/>
          <p:cNvSpPr txBox="1"/>
          <p:nvPr/>
        </p:nvSpPr>
        <p:spPr>
          <a:xfrm>
            <a:off x="5029200" y="1691640"/>
            <a:ext cx="3657600" cy="23774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LIP-001: both databases, one card</a:t>
            </a:r>
            <a:endParaRPr lang="en-US" sz="1400" dirty="0"/>
          </a:p>
          <a:p>
            <a:pPr marL="342900" indent="-342900">
              <a:spcAft>
                <a:spcPts val="600"/>
              </a:spcAft>
              <a:buSzPct val="100000"/>
              <a:buFont typeface="+mj-lt"/>
              <a:buAutoNum type="arabicPeriod" startAt="1"/>
            </a:pPr>
            <a:r>
              <a:rPr lang="en-US" sz="1400" dirty="0">
                <a:solidFill>
                  <a:schemeClr val="tx1"/>
                </a:solidFill>
              </a:rPr>
              <a:t>Makeup: 8 products from the graph</a:t>
            </a:r>
            <a:endParaRPr lang="en-US" sz="1400" dirty="0"/>
          </a:p>
          <a:p>
            <a:pPr marL="342900" indent="-342900">
              <a:spcAft>
                <a:spcPts val="600"/>
              </a:spcAft>
              <a:buSzPct val="100000"/>
              <a:buFont typeface="+mj-lt"/>
              <a:buAutoNum type="arabicPeriod" startAt="1"/>
            </a:pPr>
            <a:r>
              <a:rPr lang="en-US" sz="1400" dirty="0">
                <a:solidFill>
                  <a:schemeClr val="tx1"/>
                </a:solidFill>
              </a:rPr>
              <a:t>OIL-001: no stock, still valid</a:t>
            </a:r>
            <a:endParaRPr lang="en-US" sz="1400" dirty="0"/>
          </a:p>
          <a:p>
            <a:pPr marL="342900" indent="-342900">
              <a:spcAft>
                <a:spcPts val="600"/>
              </a:spcAft>
              <a:buSzPct val="100000"/>
              <a:buFont typeface="+mj-lt"/>
              <a:buAutoNum type="arabicPeriod" startAt="1"/>
            </a:pPr>
            <a:r>
              <a:rPr lang="en-US" sz="1400" dirty="0">
                <a:solidFill>
                  <a:schemeClr val="tx1"/>
                </a:solidFill>
              </a:rPr>
              <a:t>CMP-001: OUT. FND-001: LOW</a:t>
            </a:r>
            <a:endParaRPr lang="en-US" sz="1400" dirty="0"/>
          </a:p>
          <a:p>
            <a:pPr marL="342900" indent="-342900">
              <a:spcAft>
                <a:spcPts val="600"/>
              </a:spcAft>
              <a:buSzPct val="100000"/>
              <a:buFont typeface="+mj-lt"/>
              <a:buAutoNum type="arabicPeriod" startAt="1"/>
            </a:pPr>
            <a:r>
              <a:rPr lang="en-US" sz="1400" dirty="0">
                <a:solidFill>
                  <a:schemeClr val="tx1"/>
                </a:solidFill>
              </a:rPr>
              <a:t>xyz: nothing found</a:t>
            </a:r>
            <a:endParaRPr lang="en-US" sz="1400" dirty="0"/>
          </a:p>
          <a:p>
            <a:pPr marL="342900" indent="-342900">
              <a:spcAft>
                <a:spcPts val="600"/>
              </a:spcAft>
              <a:buSzPct val="100000"/>
              <a:buFont typeface="+mj-lt"/>
              <a:buAutoNum type="arabicPeriod" startAt="1"/>
            </a:pPr>
            <a:r>
              <a:rPr lang="en-US" sz="1400" dirty="0">
                <a:solidFill>
                  <a:schemeClr val="tx1"/>
                </a:solidFill>
              </a:rPr>
              <a:t>Stop Neo4j, search again</a:t>
            </a:r>
            <a:endParaRPr lang="en-US" sz="1400" dirty="0"/>
          </a:p>
        </p:txBody>
      </p:sp>
      <p:sp>
        <p:nvSpPr>
          <p:cNvPr id="6" name="Demo URL"/>
          <p:cNvSpPr txBox="1"/>
          <p:nvPr/>
        </p:nvSpPr>
        <p:spPr>
          <a:xfrm>
            <a:off x="5029200" y="4206240"/>
            <a:ext cx="3657600" cy="2743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http://127.0.0.1:8000/</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One search, four steps</a:t>
            </a:r>
            <a:endParaRPr lang="en-US" sz="3600" dirty="0"/>
          </a:p>
        </p:txBody>
      </p:sp>
      <p:sp>
        <p:nvSpPr>
          <p:cNvPr id="3" name="Step card 1"/>
          <p:cNvSpPr/>
          <p:nvPr/>
        </p:nvSpPr>
        <p:spPr>
          <a:xfrm>
            <a:off x="457200" y="1188720"/>
            <a:ext cx="3931920" cy="731520"/>
          </a:xfrm>
          <a:prstGeom prst="roundRect">
            <a:avLst>
              <a:gd name="adj" fmla="val 15000"/>
            </a:avLst>
          </a:prstGeom>
          <a:solidFill>
            <a:schemeClr val="bg2"/>
          </a:solidFill>
          <a:ln/>
        </p:spPr>
      </p:sp>
      <p:sp>
        <p:nvSpPr>
          <p:cNvPr id="4" name="Step number 1"/>
          <p:cNvSpPr txBox="1"/>
          <p:nvPr/>
        </p:nvSpPr>
        <p:spPr>
          <a:xfrm>
            <a:off x="594360" y="132588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title 1"/>
          <p:cNvSpPr txBox="1"/>
          <p:nvPr/>
        </p:nvSpPr>
        <p:spPr>
          <a:xfrm>
            <a:off x="1234440" y="1280160"/>
            <a:ext cx="3017520" cy="320040"/>
          </a:xfrm>
          <a:prstGeom prst="rect">
            <a:avLst/>
          </a:prstGeom>
          <a:noFill/>
          <a:ln/>
        </p:spPr>
        <p:txBody>
          <a:bodyPr wrap="square" lIns="0" tIns="0" rIns="0" bIns="0" rtlCol="0" anchor="t"/>
          <a:lstStyle/>
          <a:p>
            <a:pPr indent="0" marL="0">
              <a:buNone/>
            </a:pPr>
            <a:r>
              <a:rPr lang="en-US" sz="1600" b="1" dirty="0">
                <a:solidFill>
                  <a:schemeClr val="tx1"/>
                </a:solidFill>
              </a:rPr>
              <a:t>Is the text a SKU?</a:t>
            </a:r>
            <a:endParaRPr lang="en-US" sz="1600" dirty="0"/>
          </a:p>
        </p:txBody>
      </p:sp>
      <p:sp>
        <p:nvSpPr>
          <p:cNvPr id="6" name="Step detail 1"/>
          <p:cNvSpPr txBox="1"/>
          <p:nvPr/>
        </p:nvSpPr>
        <p:spPr>
          <a:xfrm>
            <a:off x="1234440" y="1609344"/>
            <a:ext cx="3017520" cy="256032"/>
          </a:xfrm>
          <a:prstGeom prst="rect">
            <a:avLst/>
          </a:prstGeom>
          <a:noFill/>
          <a:ln/>
        </p:spPr>
        <p:txBody>
          <a:bodyPr wrap="square" lIns="0" tIns="0" rIns="0" bIns="0" rtlCol="0" anchor="t"/>
          <a:lstStyle/>
          <a:p>
            <a:pPr indent="0" marL="0">
              <a:buNone/>
            </a:pPr>
            <a:r>
              <a:rPr lang="en-US" sz="1200" dirty="0">
                <a:solidFill>
                  <a:schemeClr val="accent6"/>
                </a:solidFill>
              </a:rPr>
              <a:t>MongoDB · case-insensitive match</a:t>
            </a:r>
            <a:endParaRPr lang="en-US" sz="1200" dirty="0"/>
          </a:p>
        </p:txBody>
      </p:sp>
      <p:sp>
        <p:nvSpPr>
          <p:cNvPr id="7" name="Step card 2"/>
          <p:cNvSpPr/>
          <p:nvPr/>
        </p:nvSpPr>
        <p:spPr>
          <a:xfrm>
            <a:off x="457200" y="2057400"/>
            <a:ext cx="3931920" cy="731520"/>
          </a:xfrm>
          <a:prstGeom prst="roundRect">
            <a:avLst>
              <a:gd name="adj" fmla="val 15000"/>
            </a:avLst>
          </a:prstGeom>
          <a:solidFill>
            <a:schemeClr val="bg2"/>
          </a:solidFill>
          <a:ln/>
        </p:spPr>
      </p:sp>
      <p:sp>
        <p:nvSpPr>
          <p:cNvPr id="8" name="Step number 2"/>
          <p:cNvSpPr txBox="1"/>
          <p:nvPr/>
        </p:nvSpPr>
        <p:spPr>
          <a:xfrm>
            <a:off x="594360" y="219456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tep title 2"/>
          <p:cNvSpPr txBox="1"/>
          <p:nvPr/>
        </p:nvSpPr>
        <p:spPr>
          <a:xfrm>
            <a:off x="1234440" y="2148840"/>
            <a:ext cx="3017520" cy="320040"/>
          </a:xfrm>
          <a:prstGeom prst="rect">
            <a:avLst/>
          </a:prstGeom>
          <a:noFill/>
          <a:ln/>
        </p:spPr>
        <p:txBody>
          <a:bodyPr wrap="square" lIns="0" tIns="0" rIns="0" bIns="0" rtlCol="0" anchor="t"/>
          <a:lstStyle/>
          <a:p>
            <a:pPr indent="0" marL="0">
              <a:buNone/>
            </a:pPr>
            <a:r>
              <a:rPr lang="en-US" sz="1600" b="1" dirty="0">
                <a:solidFill>
                  <a:schemeClr val="tx1"/>
                </a:solidFill>
              </a:rPr>
              <a:t>If not, is it a category?</a:t>
            </a:r>
            <a:endParaRPr lang="en-US" sz="1600" dirty="0"/>
          </a:p>
        </p:txBody>
      </p:sp>
      <p:sp>
        <p:nvSpPr>
          <p:cNvPr id="10" name="Step detail 2"/>
          <p:cNvSpPr txBox="1"/>
          <p:nvPr/>
        </p:nvSpPr>
        <p:spPr>
          <a:xfrm>
            <a:off x="1234440" y="2478024"/>
            <a:ext cx="3017520" cy="256032"/>
          </a:xfrm>
          <a:prstGeom prst="rect">
            <a:avLst/>
          </a:prstGeom>
          <a:noFill/>
          <a:ln/>
        </p:spPr>
        <p:txBody>
          <a:bodyPr wrap="square" lIns="0" tIns="0" rIns="0" bIns="0" rtlCol="0" anchor="t"/>
          <a:lstStyle/>
          <a:p>
            <a:pPr indent="0" marL="0">
              <a:buNone/>
            </a:pPr>
            <a:r>
              <a:rPr lang="en-US" sz="1200" dirty="0">
                <a:solidFill>
                  <a:schemeClr val="accent6"/>
                </a:solidFill>
              </a:rPr>
              <a:t>Neo4j · walks down the tree</a:t>
            </a:r>
            <a:endParaRPr lang="en-US" sz="1200" dirty="0"/>
          </a:p>
        </p:txBody>
      </p:sp>
      <p:sp>
        <p:nvSpPr>
          <p:cNvPr id="11" name="Step card 3"/>
          <p:cNvSpPr/>
          <p:nvPr/>
        </p:nvSpPr>
        <p:spPr>
          <a:xfrm>
            <a:off x="457200" y="2926080"/>
            <a:ext cx="3931920" cy="731520"/>
          </a:xfrm>
          <a:prstGeom prst="roundRect">
            <a:avLst>
              <a:gd name="adj" fmla="val 15000"/>
            </a:avLst>
          </a:prstGeom>
          <a:solidFill>
            <a:schemeClr val="bg2"/>
          </a:solidFill>
          <a:ln/>
        </p:spPr>
      </p:sp>
      <p:sp>
        <p:nvSpPr>
          <p:cNvPr id="12" name="Step number 3"/>
          <p:cNvSpPr txBox="1"/>
          <p:nvPr/>
        </p:nvSpPr>
        <p:spPr>
          <a:xfrm>
            <a:off x="594360" y="30632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Step title 3"/>
          <p:cNvSpPr txBox="1"/>
          <p:nvPr/>
        </p:nvSpPr>
        <p:spPr>
          <a:xfrm>
            <a:off x="1234440" y="3017520"/>
            <a:ext cx="3017520" cy="320040"/>
          </a:xfrm>
          <a:prstGeom prst="rect">
            <a:avLst/>
          </a:prstGeom>
          <a:noFill/>
          <a:ln/>
        </p:spPr>
        <p:txBody>
          <a:bodyPr wrap="square" lIns="0" tIns="0" rIns="0" bIns="0" rtlCol="0" anchor="t"/>
          <a:lstStyle/>
          <a:p>
            <a:pPr indent="0" marL="0">
              <a:buNone/>
            </a:pPr>
            <a:r>
              <a:rPr lang="en-US" sz="1600" b="1" dirty="0">
                <a:solidFill>
                  <a:schemeClr val="tx1"/>
                </a:solidFill>
              </a:rPr>
              <a:t>Get catalog and stock</a:t>
            </a:r>
            <a:endParaRPr lang="en-US" sz="1600" dirty="0"/>
          </a:p>
        </p:txBody>
      </p:sp>
      <p:sp>
        <p:nvSpPr>
          <p:cNvPr id="14" name="Step detail 3"/>
          <p:cNvSpPr txBox="1"/>
          <p:nvPr/>
        </p:nvSpPr>
        <p:spPr>
          <a:xfrm>
            <a:off x="1234440" y="3346704"/>
            <a:ext cx="3017520" cy="256032"/>
          </a:xfrm>
          <a:prstGeom prst="rect">
            <a:avLst/>
          </a:prstGeom>
          <a:noFill/>
          <a:ln/>
        </p:spPr>
        <p:txBody>
          <a:bodyPr wrap="square" lIns="0" tIns="0" rIns="0" bIns="0" rtlCol="0" anchor="t"/>
          <a:lstStyle/>
          <a:p>
            <a:pPr indent="0" marL="0">
              <a:buNone/>
            </a:pPr>
            <a:r>
              <a:rPr lang="en-US" sz="1200" dirty="0">
                <a:solidFill>
                  <a:schemeClr val="accent6"/>
                </a:solidFill>
              </a:rPr>
              <a:t>MongoDB · products + inventory</a:t>
            </a:r>
            <a:endParaRPr lang="en-US" sz="1200" dirty="0"/>
          </a:p>
        </p:txBody>
      </p:sp>
      <p:sp>
        <p:nvSpPr>
          <p:cNvPr id="15" name="Step card 4"/>
          <p:cNvSpPr/>
          <p:nvPr/>
        </p:nvSpPr>
        <p:spPr>
          <a:xfrm>
            <a:off x="457200" y="3794760"/>
            <a:ext cx="3931920" cy="731520"/>
          </a:xfrm>
          <a:prstGeom prst="roundRect">
            <a:avLst>
              <a:gd name="adj" fmla="val 15000"/>
            </a:avLst>
          </a:prstGeom>
          <a:solidFill>
            <a:schemeClr val="bg2"/>
          </a:solidFill>
          <a:ln/>
        </p:spPr>
      </p:sp>
      <p:sp>
        <p:nvSpPr>
          <p:cNvPr id="16" name="Step number 4"/>
          <p:cNvSpPr txBox="1"/>
          <p:nvPr/>
        </p:nvSpPr>
        <p:spPr>
          <a:xfrm>
            <a:off x="594360" y="393192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Step title 4"/>
          <p:cNvSpPr txBox="1"/>
          <p:nvPr/>
        </p:nvSpPr>
        <p:spPr>
          <a:xfrm>
            <a:off x="1234440" y="3886200"/>
            <a:ext cx="3017520" cy="320040"/>
          </a:xfrm>
          <a:prstGeom prst="rect">
            <a:avLst/>
          </a:prstGeom>
          <a:noFill/>
          <a:ln/>
        </p:spPr>
        <p:txBody>
          <a:bodyPr wrap="square" lIns="0" tIns="0" rIns="0" bIns="0" rtlCol="0" anchor="t"/>
          <a:lstStyle/>
          <a:p>
            <a:pPr indent="0" marL="0">
              <a:buNone/>
            </a:pPr>
            <a:r>
              <a:rPr lang="en-US" sz="1600" b="1" dirty="0">
                <a:solidFill>
                  <a:schemeClr val="tx1"/>
                </a:solidFill>
              </a:rPr>
              <a:t>Get category path and related</a:t>
            </a:r>
            <a:endParaRPr lang="en-US" sz="1600" dirty="0"/>
          </a:p>
        </p:txBody>
      </p:sp>
      <p:sp>
        <p:nvSpPr>
          <p:cNvPr id="18" name="Step detail 4"/>
          <p:cNvSpPr txBox="1"/>
          <p:nvPr/>
        </p:nvSpPr>
        <p:spPr>
          <a:xfrm>
            <a:off x="1234440" y="4215384"/>
            <a:ext cx="3017520" cy="256032"/>
          </a:xfrm>
          <a:prstGeom prst="rect">
            <a:avLst/>
          </a:prstGeom>
          <a:noFill/>
          <a:ln/>
        </p:spPr>
        <p:txBody>
          <a:bodyPr wrap="square" lIns="0" tIns="0" rIns="0" bIns="0" rtlCol="0" anchor="t"/>
          <a:lstStyle/>
          <a:p>
            <a:pPr indent="0" marL="0">
              <a:buNone/>
            </a:pPr>
            <a:r>
              <a:rPr lang="en-US" sz="1200" dirty="0">
                <a:solidFill>
                  <a:schemeClr val="accent6"/>
                </a:solidFill>
              </a:rPr>
              <a:t>Neo4j · one graph query</a:t>
            </a:r>
            <a:endParaRPr lang="en-US" sz="1200" dirty="0"/>
          </a:p>
        </p:txBody>
      </p:sp>
      <p:sp>
        <p:nvSpPr>
          <p:cNvPr id="19" name="Trace heading"/>
          <p:cNvSpPr txBox="1"/>
          <p:nvPr/>
        </p:nvSpPr>
        <p:spPr>
          <a:xfrm>
            <a:off x="4663440" y="1188720"/>
            <a:ext cx="4023360" cy="274320"/>
          </a:xfrm>
          <a:prstGeom prst="rect">
            <a:avLst/>
          </a:prstGeom>
          <a:noFill/>
          <a:ln/>
        </p:spPr>
        <p:txBody>
          <a:bodyPr wrap="square" lIns="0" tIns="0" rIns="0" bIns="0" rtlCol="0" anchor="t"/>
          <a:lstStyle/>
          <a:p>
            <a:pPr indent="0" marL="0">
              <a:buNone/>
            </a:pPr>
            <a:r>
              <a:rPr lang="en-US" sz="1600" b="1" dirty="0">
                <a:solidFill>
                  <a:schemeClr val="tx1"/>
                </a:solidFill>
              </a:rPr>
              <a:t>Trace for LIP-001</a:t>
            </a:r>
            <a:endParaRPr lang="en-US" sz="1600" dirty="0"/>
          </a:p>
        </p:txBody>
      </p:sp>
      <p:graphicFrame>
        <p:nvGraphicFramePr>
          <p:cNvPr id="7" name="Trace table"/>
          <p:cNvGraphicFramePr>
            <a:graphicFrameLocks noGrp="1"/>
          </p:cNvGraphicFramePr>
          <p:nvPr>
            <p:extLst>
              <p:ext uri="{D42A27DB-BD31-4B8C-83A1-F6EECF244321}">
                <p14:modId xmlns:p14="http://schemas.microsoft.com/office/powerpoint/2010/main" val="1579011935"/>
              </p:ext>
            </p:extLst>
          </p:nvPr>
        </p:nvGraphicFramePr>
        <p:xfrm>
          <a:off x="4663440" y="1554480"/>
          <a:ext cx="4023360" cy="914400"/>
        </p:xfrm>
        <a:graphic>
          <a:graphicData uri="http://schemas.openxmlformats.org/drawingml/2006/table">
            <a:tbl>
              <a:tblPr/>
              <a:tblGrid>
                <a:gridCol w="365760"/>
                <a:gridCol w="1005840"/>
                <a:gridCol w="1920240"/>
                <a:gridCol w="731520"/>
              </a:tblGrid>
              <a:tr h="347472">
                <a:tc>
                  <a:txBody>
                    <a:bodyPr/>
                    <a:lstStyle/>
                    <a:p>
                      <a:pPr algn="l" indent="0" marL="0">
                        <a:buNone/>
                      </a:pPr>
                      <a:r>
                        <a:rPr lang="en-US" sz="1200" b="1" dirty="0">
                          <a:solidFill>
                            <a:schemeClr val="bg1"/>
                          </a:solidFill>
                        </a:rPr>
                        <a:t>#</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Database</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Purpose</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solidFill>
                      <a:schemeClr val="tx1"/>
                    </a:solidFill>
                  </a:tcPr>
                </a:tc>
                <a:tc>
                  <a:txBody>
                    <a:bodyPr/>
                    <a:lstStyle/>
                    <a:p>
                      <a:pPr algn="r" indent="0" marL="0">
                        <a:buNone/>
                      </a:pPr>
                      <a:r>
                        <a:rPr lang="en-US" sz="1200" b="1" dirty="0">
                          <a:solidFill>
                            <a:schemeClr val="bg1"/>
                          </a:solidFill>
                        </a:rPr>
                        <a:t>Rows</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solidFill>
                      <a:schemeClr val="tx1"/>
                    </a:solidFill>
                  </a:tcPr>
                </a:tc>
              </a:tr>
              <a:tr h="347472">
                <a:tc>
                  <a:txBody>
                    <a:bodyPr/>
                    <a:lstStyle/>
                    <a:p>
                      <a:pPr algn="l" indent="0" marL="0">
                        <a:buNone/>
                      </a:pPr>
                      <a:r>
                        <a:rPr lang="en-US" sz="1200" dirty="0">
                          <a:solidFill>
                            <a:schemeClr val="tx1"/>
                          </a:solidFill>
                        </a:rPr>
                        <a:t>1</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accent2"/>
                          </a:solidFill>
                        </a:rPr>
                        <a:t>mongodb</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tx1"/>
                          </a:solidFill>
                        </a:rPr>
                        <a:t>Is it a SKU?</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r" indent="0" marL="0">
                        <a:buNone/>
                      </a:pPr>
                      <a:r>
                        <a:rPr lang="en-US" sz="1200" dirty="0">
                          <a:solidFill>
                            <a:schemeClr val="tx1"/>
                          </a:solidFill>
                        </a:rPr>
                        <a:t>1</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r>
              <a:tr h="347472">
                <a:tc>
                  <a:txBody>
                    <a:bodyPr/>
                    <a:lstStyle/>
                    <a:p>
                      <a:pPr algn="l" indent="0" marL="0">
                        <a:buNone/>
                      </a:pPr>
                      <a:r>
                        <a:rPr lang="en-US" sz="1200" dirty="0">
                          <a:solidFill>
                            <a:schemeClr val="tx1"/>
                          </a:solidFill>
                        </a:rPr>
                        <a:t>2</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accent2"/>
                          </a:solidFill>
                        </a:rPr>
                        <a:t>mongodb</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tx1"/>
                          </a:solidFill>
                        </a:rPr>
                        <a:t>Product details</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r" indent="0" marL="0">
                        <a:buNone/>
                      </a:pPr>
                      <a:r>
                        <a:rPr lang="en-US" sz="1200" dirty="0">
                          <a:solidFill>
                            <a:schemeClr val="tx1"/>
                          </a:solidFill>
                        </a:rPr>
                        <a:t>1</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r>
              <a:tr h="347472">
                <a:tc>
                  <a:txBody>
                    <a:bodyPr/>
                    <a:lstStyle/>
                    <a:p>
                      <a:pPr algn="l" indent="0" marL="0">
                        <a:buNone/>
                      </a:pPr>
                      <a:r>
                        <a:rPr lang="en-US" sz="1200" dirty="0">
                          <a:solidFill>
                            <a:schemeClr val="tx1"/>
                          </a:solidFill>
                        </a:rPr>
                        <a:t>3</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accent2"/>
                          </a:solidFill>
                        </a:rPr>
                        <a:t>mongodb</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tx1"/>
                          </a:solidFill>
                        </a:rPr>
                        <a:t>Stock per warehouse</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r" indent="0" marL="0">
                        <a:buNone/>
                      </a:pPr>
                      <a:r>
                        <a:rPr lang="en-US" sz="1200" dirty="0">
                          <a:solidFill>
                            <a:schemeClr val="tx1"/>
                          </a:solidFill>
                        </a:rPr>
                        <a:t>2</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r>
              <a:tr h="347472">
                <a:tc>
                  <a:txBody>
                    <a:bodyPr/>
                    <a:lstStyle/>
                    <a:p>
                      <a:pPr algn="l" indent="0" marL="0">
                        <a:buNone/>
                      </a:pPr>
                      <a:r>
                        <a:rPr lang="en-US" sz="1200" dirty="0">
                          <a:solidFill>
                            <a:schemeClr val="tx1"/>
                          </a:solidFill>
                        </a:rPr>
                        <a:t>4</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accent3"/>
                          </a:solidFill>
                        </a:rPr>
                        <a:t>neo4j</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l" indent="0" marL="0">
                        <a:buNone/>
                      </a:pPr>
                      <a:r>
                        <a:rPr lang="en-US" sz="1200" dirty="0">
                          <a:solidFill>
                            <a:schemeClr val="tx1"/>
                          </a:solidFill>
                        </a:rPr>
                        <a:t>Path + related</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c>
                  <a:txBody>
                    <a:bodyPr/>
                    <a:lstStyle/>
                    <a:p>
                      <a:pPr algn="r" indent="0" marL="0">
                        <a:buNone/>
                      </a:pPr>
                      <a:r>
                        <a:rPr lang="en-US" sz="1200" dirty="0">
                          <a:solidFill>
                            <a:schemeClr val="tx1"/>
                          </a:solidFill>
                        </a:rPr>
                        <a:t>1</a:t>
                      </a:r>
                      <a:endParaRPr lang="en-US" sz="1200" dirty="0"/>
                    </a:p>
                  </a:txBody>
                  <a:tcPr marL="73152" marR="73152" marT="0" marB="0" anchor="ctr">
                    <a:lnL w="9525" cap="flat" cmpd="sng" algn="ctr">
                      <a:solidFill>
                        <a:srgbClr val="E5D5DE"/>
                      </a:solidFill>
                      <a:prstDash val="solid"/>
                      <a:round/>
                      <a:headEnd type="none" w="med" len="med"/>
                      <a:tailEnd type="none" w="med" len="med"/>
                    </a:lnL>
                    <a:lnR w="9525" cap="flat" cmpd="sng" algn="ctr">
                      <a:solidFill>
                        <a:srgbClr val="E5D5DE"/>
                      </a:solidFill>
                      <a:prstDash val="solid"/>
                      <a:round/>
                      <a:headEnd type="none" w="med" len="med"/>
                      <a:tailEnd type="none" w="med" len="med"/>
                    </a:lnR>
                    <a:lnT w="9525" cap="flat" cmpd="sng" algn="ctr">
                      <a:solidFill>
                        <a:srgbClr val="E5D5DE"/>
                      </a:solidFill>
                      <a:prstDash val="solid"/>
                      <a:round/>
                      <a:headEnd type="none" w="med" len="med"/>
                      <a:tailEnd type="none" w="med" len="med"/>
                    </a:lnT>
                    <a:lnB w="9525" cap="flat" cmpd="sng" algn="ctr">
                      <a:solidFill>
                        <a:srgbClr val="E5D5DE"/>
                      </a:solidFill>
                      <a:prstDash val="solid"/>
                      <a:round/>
                      <a:headEnd type="none" w="med" len="med"/>
                      <a:tailEnd type="none" w="med" len="med"/>
                    </a:lnB>
                  </a:tcPr>
                </a:tc>
              </a:tr>
            </a:tbl>
          </a:graphicData>
        </a:graphic>
      </p:graphicFrame>
      <p:sp>
        <p:nvSpPr>
          <p:cNvPr id="21" name="Mode label"/>
          <p:cNvSpPr txBox="1"/>
          <p:nvPr/>
        </p:nvSpPr>
        <p:spPr>
          <a:xfrm>
            <a:off x="4663440" y="3520440"/>
            <a:ext cx="4023360" cy="274320"/>
          </a:xfrm>
          <a:prstGeom prst="rect">
            <a:avLst/>
          </a:prstGeom>
          <a:noFill/>
          <a:ln/>
        </p:spPr>
        <p:txBody>
          <a:bodyPr wrap="square" lIns="0" tIns="0" rIns="0" bIns="0" rtlCol="0" anchor="t"/>
          <a:lstStyle/>
          <a:p>
            <a:pPr indent="0" marL="0">
              <a:buNone/>
            </a:pPr>
            <a:r>
              <a:rPr lang="en-US" sz="1400" b="1" dirty="0">
                <a:solidFill>
                  <a:schemeClr val="accent6"/>
                </a:solidFill>
              </a:rPr>
              <a:t>Result mode</a:t>
            </a:r>
            <a:endParaRPr lang="en-US" sz="1400" dirty="0"/>
          </a:p>
        </p:txBody>
      </p:sp>
      <p:sp>
        <p:nvSpPr>
          <p:cNvPr id="22" name="Mode chip sku"/>
          <p:cNvSpPr txBox="1"/>
          <p:nvPr/>
        </p:nvSpPr>
        <p:spPr>
          <a:xfrm>
            <a:off x="4663440" y="3840480"/>
            <a:ext cx="914400" cy="274320"/>
          </a:xfrm>
          <a:prstGeom prst="roundRect">
            <a:avLst>
              <a:gd name="adj" fmla="val 46667"/>
            </a:avLst>
          </a:prstGeom>
          <a:solidFill>
            <a:schemeClr val="accent1"/>
          </a:solidFill>
          <a:ln/>
        </p:spPr>
        <p:txBody>
          <a:bodyPr wrap="square" lIns="0" tIns="0" rIns="0" bIns="0" rtlCol="0" anchor="ctr"/>
          <a:lstStyle/>
          <a:p>
            <a:pPr algn="ctr" indent="0" marL="0">
              <a:buNone/>
            </a:pPr>
            <a:r>
              <a:rPr lang="en-US" sz="1200" b="1" dirty="0">
                <a:solidFill>
                  <a:schemeClr val="bg1"/>
                </a:solidFill>
              </a:rPr>
              <a:t>sku</a:t>
            </a:r>
            <a:endParaRPr lang="en-US" sz="1200" dirty="0"/>
          </a:p>
        </p:txBody>
      </p:sp>
      <p:sp>
        <p:nvSpPr>
          <p:cNvPr id="23" name="Mode chip category"/>
          <p:cNvSpPr txBox="1"/>
          <p:nvPr/>
        </p:nvSpPr>
        <p:spPr>
          <a:xfrm>
            <a:off x="5715000" y="3840480"/>
            <a:ext cx="1188720" cy="274320"/>
          </a:xfrm>
          <a:prstGeom prst="roundRect">
            <a:avLst>
              <a:gd name="adj" fmla="val 46667"/>
            </a:avLst>
          </a:prstGeom>
          <a:solidFill>
            <a:schemeClr val="accent1"/>
          </a:solidFill>
          <a:ln/>
        </p:spPr>
        <p:txBody>
          <a:bodyPr wrap="square" lIns="0" tIns="0" rIns="0" bIns="0" rtlCol="0" anchor="ctr"/>
          <a:lstStyle/>
          <a:p>
            <a:pPr algn="ctr" indent="0" marL="0">
              <a:buNone/>
            </a:pPr>
            <a:r>
              <a:rPr lang="en-US" sz="1200" b="1" dirty="0">
                <a:solidFill>
                  <a:schemeClr val="bg1"/>
                </a:solidFill>
              </a:rPr>
              <a:t>category</a:t>
            </a:r>
            <a:endParaRPr lang="en-US" sz="1200" dirty="0"/>
          </a:p>
        </p:txBody>
      </p:sp>
      <p:sp>
        <p:nvSpPr>
          <p:cNvPr id="24" name="Mode chip none"/>
          <p:cNvSpPr txBox="1"/>
          <p:nvPr/>
        </p:nvSpPr>
        <p:spPr>
          <a:xfrm>
            <a:off x="7086600" y="3840480"/>
            <a:ext cx="914400" cy="274320"/>
          </a:xfrm>
          <a:prstGeom prst="roundRect">
            <a:avLst>
              <a:gd name="adj" fmla="val 46667"/>
            </a:avLst>
          </a:prstGeom>
          <a:solidFill>
            <a:schemeClr val="accent6"/>
          </a:solidFill>
          <a:ln/>
        </p:spPr>
        <p:txBody>
          <a:bodyPr wrap="square" lIns="0" tIns="0" rIns="0" bIns="0" rtlCol="0" anchor="ctr"/>
          <a:lstStyle/>
          <a:p>
            <a:pPr algn="ctr" indent="0" marL="0">
              <a:buNone/>
            </a:pPr>
            <a:r>
              <a:rPr lang="en-US" sz="1200" b="1" dirty="0">
                <a:solidFill>
                  <a:schemeClr val="bg1"/>
                </a:solidFill>
              </a:rPr>
              <a:t>none</a:t>
            </a:r>
            <a:endParaRPr lang="en-US" sz="1200" dirty="0"/>
          </a:p>
        </p:txBody>
      </p:sp>
      <p:sp>
        <p:nvSpPr>
          <p:cNvPr id="25" name="Mode examples"/>
          <p:cNvSpPr txBox="1"/>
          <p:nvPr/>
        </p:nvSpPr>
        <p:spPr>
          <a:xfrm>
            <a:off x="4663440" y="4251960"/>
            <a:ext cx="4023360" cy="502920"/>
          </a:xfrm>
          <a:prstGeom prst="rect">
            <a:avLst/>
          </a:prstGeom>
          <a:noFill/>
          <a:ln/>
        </p:spPr>
        <p:txBody>
          <a:bodyPr wrap="square" lIns="0" tIns="0" rIns="0" bIns="0" rtlCol="0" anchor="t"/>
          <a:lstStyle/>
          <a:p>
            <a:pPr indent="0" marL="0">
              <a:buNone/>
            </a:pPr>
            <a:r>
              <a:rPr lang="en-US" sz="1400" dirty="0">
                <a:solidFill>
                  <a:schemeClr val="tx1"/>
                </a:solidFill>
              </a:rPr>
              <a:t>LIP-001 gives sku. Makeup gives category.</a:t>
            </a:r>
            <a:endParaRPr lang="en-US" sz="1400" dirty="0"/>
          </a:p>
          <a:p>
            <a:pPr indent="0" marL="0">
              <a:buNone/>
            </a:pPr>
            <a:r>
              <a:rPr lang="en-US" sz="1400" dirty="0">
                <a:solidFill>
                  <a:schemeClr val="tx1"/>
                </a:solidFill>
              </a:rPr>
              <a:t>xyz gives none.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Neo4j: the category graph</a:t>
            </a:r>
            <a:endParaRPr lang="en-US" sz="3600" dirty="0"/>
          </a:p>
        </p:txBody>
      </p:sp>
      <p:sp>
        <p:nvSpPr>
          <p:cNvPr id="3" name="Edge Makeup Lips"/>
          <p:cNvSpPr/>
          <p:nvPr/>
        </p:nvSpPr>
        <p:spPr>
          <a:xfrm flipH="1">
            <a:off x="1280160" y="1600200"/>
            <a:ext cx="1920240" cy="320040"/>
          </a:xfrm>
          <a:prstGeom prst="line">
            <a:avLst/>
          </a:prstGeom>
          <a:noFill/>
          <a:ln w="19050">
            <a:solidFill>
              <a:schemeClr val="accent6"/>
            </a:solidFill>
            <a:prstDash val="solid"/>
          </a:ln>
        </p:spPr>
      </p:sp>
      <p:sp>
        <p:nvSpPr>
          <p:cNvPr id="4" name="Edge Makeup Eyes"/>
          <p:cNvSpPr/>
          <p:nvPr/>
        </p:nvSpPr>
        <p:spPr>
          <a:xfrm>
            <a:off x="3200400" y="1600200"/>
            <a:ext cx="0" cy="320040"/>
          </a:xfrm>
          <a:prstGeom prst="line">
            <a:avLst/>
          </a:prstGeom>
          <a:noFill/>
          <a:ln w="19050">
            <a:solidFill>
              <a:schemeClr val="accent6"/>
            </a:solidFill>
            <a:prstDash val="solid"/>
          </a:ln>
        </p:spPr>
      </p:sp>
      <p:sp>
        <p:nvSpPr>
          <p:cNvPr id="5" name="Edge Makeup Face"/>
          <p:cNvSpPr/>
          <p:nvPr/>
        </p:nvSpPr>
        <p:spPr>
          <a:xfrm>
            <a:off x="3200400" y="1600200"/>
            <a:ext cx="1920240" cy="320040"/>
          </a:xfrm>
          <a:prstGeom prst="line">
            <a:avLst/>
          </a:prstGeom>
          <a:noFill/>
          <a:ln w="19050">
            <a:solidFill>
              <a:schemeClr val="accent6"/>
            </a:solidFill>
            <a:prstDash val="solid"/>
          </a:ln>
        </p:spPr>
      </p:sp>
      <p:sp>
        <p:nvSpPr>
          <p:cNvPr id="6" name="Edge level 1 to 2 1"/>
          <p:cNvSpPr/>
          <p:nvPr/>
        </p:nvSpPr>
        <p:spPr>
          <a:xfrm>
            <a:off x="1280160" y="2286000"/>
            <a:ext cx="0" cy="320040"/>
          </a:xfrm>
          <a:prstGeom prst="line">
            <a:avLst/>
          </a:prstGeom>
          <a:noFill/>
          <a:ln w="19050">
            <a:solidFill>
              <a:schemeClr val="accent6"/>
            </a:solidFill>
            <a:prstDash val="solid"/>
          </a:ln>
        </p:spPr>
      </p:sp>
      <p:sp>
        <p:nvSpPr>
          <p:cNvPr id="7" name="Edge category to product 1"/>
          <p:cNvSpPr/>
          <p:nvPr/>
        </p:nvSpPr>
        <p:spPr>
          <a:xfrm>
            <a:off x="1280160" y="2971800"/>
            <a:ext cx="0" cy="594360"/>
          </a:xfrm>
          <a:prstGeom prst="line">
            <a:avLst/>
          </a:prstGeom>
          <a:noFill/>
          <a:ln w="19050">
            <a:solidFill>
              <a:schemeClr val="accent6"/>
            </a:solidFill>
            <a:prstDash val="solid"/>
          </a:ln>
        </p:spPr>
      </p:sp>
      <p:sp>
        <p:nvSpPr>
          <p:cNvPr id="8" name="Edge level 1 to 2 2"/>
          <p:cNvSpPr/>
          <p:nvPr/>
        </p:nvSpPr>
        <p:spPr>
          <a:xfrm>
            <a:off x="3200400" y="2286000"/>
            <a:ext cx="0" cy="320040"/>
          </a:xfrm>
          <a:prstGeom prst="line">
            <a:avLst/>
          </a:prstGeom>
          <a:noFill/>
          <a:ln w="19050">
            <a:solidFill>
              <a:schemeClr val="accent6"/>
            </a:solidFill>
            <a:prstDash val="solid"/>
          </a:ln>
        </p:spPr>
      </p:sp>
      <p:sp>
        <p:nvSpPr>
          <p:cNvPr id="9" name="Edge category to product 2"/>
          <p:cNvSpPr/>
          <p:nvPr/>
        </p:nvSpPr>
        <p:spPr>
          <a:xfrm>
            <a:off x="3200400" y="2971800"/>
            <a:ext cx="0" cy="594360"/>
          </a:xfrm>
          <a:prstGeom prst="line">
            <a:avLst/>
          </a:prstGeom>
          <a:noFill/>
          <a:ln w="19050">
            <a:solidFill>
              <a:schemeClr val="accent6"/>
            </a:solidFill>
            <a:prstDash val="solid"/>
          </a:ln>
        </p:spPr>
      </p:sp>
      <p:sp>
        <p:nvSpPr>
          <p:cNvPr id="10" name="Edge level 1 to 2 3"/>
          <p:cNvSpPr/>
          <p:nvPr/>
        </p:nvSpPr>
        <p:spPr>
          <a:xfrm>
            <a:off x="5120640" y="2286000"/>
            <a:ext cx="0" cy="320040"/>
          </a:xfrm>
          <a:prstGeom prst="line">
            <a:avLst/>
          </a:prstGeom>
          <a:noFill/>
          <a:ln w="19050">
            <a:solidFill>
              <a:schemeClr val="accent6"/>
            </a:solidFill>
            <a:prstDash val="solid"/>
          </a:ln>
        </p:spPr>
      </p:sp>
      <p:sp>
        <p:nvSpPr>
          <p:cNvPr id="11" name="Edge category to product 3"/>
          <p:cNvSpPr/>
          <p:nvPr/>
        </p:nvSpPr>
        <p:spPr>
          <a:xfrm>
            <a:off x="5120640" y="2971800"/>
            <a:ext cx="0" cy="594360"/>
          </a:xfrm>
          <a:prstGeom prst="line">
            <a:avLst/>
          </a:prstGeom>
          <a:noFill/>
          <a:ln w="19050">
            <a:solidFill>
              <a:schemeClr val="accent6"/>
            </a:solidFill>
            <a:prstDash val="solid"/>
          </a:ln>
        </p:spPr>
      </p:sp>
      <p:sp>
        <p:nvSpPr>
          <p:cNvPr id="12" name="Edge bought together"/>
          <p:cNvSpPr/>
          <p:nvPr/>
        </p:nvSpPr>
        <p:spPr>
          <a:xfrm>
            <a:off x="1828800" y="3749040"/>
            <a:ext cx="822960" cy="0"/>
          </a:xfrm>
          <a:prstGeom prst="line">
            <a:avLst/>
          </a:prstGeom>
          <a:noFill/>
          <a:ln w="31750">
            <a:solidFill>
              <a:schemeClr val="accent1"/>
            </a:solidFill>
            <a:prstDash val="dash"/>
          </a:ln>
        </p:spPr>
      </p:sp>
      <p:sp>
        <p:nvSpPr>
          <p:cNvPr id="13" name="Node Makeup"/>
          <p:cNvSpPr txBox="1"/>
          <p:nvPr/>
        </p:nvSpPr>
        <p:spPr>
          <a:xfrm>
            <a:off x="2560320" y="1234440"/>
            <a:ext cx="12801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Makeup</a:t>
            </a:r>
            <a:endParaRPr lang="en-US" sz="1200" dirty="0"/>
          </a:p>
        </p:txBody>
      </p:sp>
      <p:sp>
        <p:nvSpPr>
          <p:cNvPr id="14" name="Node Lips"/>
          <p:cNvSpPr txBox="1"/>
          <p:nvPr/>
        </p:nvSpPr>
        <p:spPr>
          <a:xfrm>
            <a:off x="731520" y="1920240"/>
            <a:ext cx="109728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Lips</a:t>
            </a:r>
            <a:endParaRPr lang="en-US" sz="1200" dirty="0"/>
          </a:p>
        </p:txBody>
      </p:sp>
      <p:sp>
        <p:nvSpPr>
          <p:cNvPr id="15" name="Node Eyes"/>
          <p:cNvSpPr txBox="1"/>
          <p:nvPr/>
        </p:nvSpPr>
        <p:spPr>
          <a:xfrm>
            <a:off x="2651760" y="1920240"/>
            <a:ext cx="109728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Eyes</a:t>
            </a:r>
            <a:endParaRPr lang="en-US" sz="1200" dirty="0"/>
          </a:p>
        </p:txBody>
      </p:sp>
      <p:sp>
        <p:nvSpPr>
          <p:cNvPr id="16" name="Node Face"/>
          <p:cNvSpPr txBox="1"/>
          <p:nvPr/>
        </p:nvSpPr>
        <p:spPr>
          <a:xfrm>
            <a:off x="4572000" y="1920240"/>
            <a:ext cx="109728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Face</a:t>
            </a:r>
            <a:endParaRPr lang="en-US" sz="1200" dirty="0"/>
          </a:p>
        </p:txBody>
      </p:sp>
      <p:sp>
        <p:nvSpPr>
          <p:cNvPr id="17" name="Node Lipstick"/>
          <p:cNvSpPr txBox="1"/>
          <p:nvPr/>
        </p:nvSpPr>
        <p:spPr>
          <a:xfrm>
            <a:off x="640080" y="2606040"/>
            <a:ext cx="12801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Lipstick</a:t>
            </a:r>
            <a:endParaRPr lang="en-US" sz="1200" dirty="0"/>
          </a:p>
        </p:txBody>
      </p:sp>
      <p:sp>
        <p:nvSpPr>
          <p:cNvPr id="18" name="Node Kajal"/>
          <p:cNvSpPr txBox="1"/>
          <p:nvPr/>
        </p:nvSpPr>
        <p:spPr>
          <a:xfrm>
            <a:off x="2560320" y="2606040"/>
            <a:ext cx="12801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Kajal</a:t>
            </a:r>
            <a:endParaRPr lang="en-US" sz="1200" dirty="0"/>
          </a:p>
        </p:txBody>
      </p:sp>
      <p:sp>
        <p:nvSpPr>
          <p:cNvPr id="19" name="Node Foundation"/>
          <p:cNvSpPr txBox="1"/>
          <p:nvPr/>
        </p:nvSpPr>
        <p:spPr>
          <a:xfrm>
            <a:off x="4480560" y="2606040"/>
            <a:ext cx="12801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bg1"/>
                </a:solidFill>
              </a:rPr>
              <a:t>Foundation</a:t>
            </a:r>
            <a:endParaRPr lang="en-US" sz="1200" dirty="0"/>
          </a:p>
        </p:txBody>
      </p:sp>
      <p:sp>
        <p:nvSpPr>
          <p:cNvPr id="20" name="Node LIP-001"/>
          <p:cNvSpPr txBox="1"/>
          <p:nvPr/>
        </p:nvSpPr>
        <p:spPr>
          <a:xfrm>
            <a:off x="731520" y="3566160"/>
            <a:ext cx="1097280" cy="365760"/>
          </a:xfrm>
          <a:prstGeom prst="roundRect">
            <a:avLst>
              <a:gd name="adj" fmla="val 25000"/>
            </a:avLst>
          </a:prstGeom>
          <a:solidFill>
            <a:schemeClr val="bg1"/>
          </a:solidFill>
          <a:ln w="19050">
            <a:solidFill>
              <a:schemeClr val="accent3"/>
            </a:solidFill>
          </a:ln>
        </p:spPr>
        <p:txBody>
          <a:bodyPr wrap="square" lIns="0" tIns="0" rIns="0" bIns="0" rtlCol="0" anchor="ctr"/>
          <a:lstStyle/>
          <a:p>
            <a:pPr algn="ctr" indent="0" marL="0">
              <a:buNone/>
            </a:pPr>
            <a:r>
              <a:rPr lang="en-US" sz="1200" b="1" dirty="0">
                <a:solidFill>
                  <a:schemeClr val="accent3"/>
                </a:solidFill>
              </a:rPr>
              <a:t>LIP-001</a:t>
            </a:r>
            <a:endParaRPr lang="en-US" sz="1200" dirty="0"/>
          </a:p>
        </p:txBody>
      </p:sp>
      <p:sp>
        <p:nvSpPr>
          <p:cNvPr id="21" name="Node KAJ-001"/>
          <p:cNvSpPr txBox="1"/>
          <p:nvPr/>
        </p:nvSpPr>
        <p:spPr>
          <a:xfrm>
            <a:off x="2651760" y="3566160"/>
            <a:ext cx="1097280" cy="365760"/>
          </a:xfrm>
          <a:prstGeom prst="roundRect">
            <a:avLst>
              <a:gd name="adj" fmla="val 25000"/>
            </a:avLst>
          </a:prstGeom>
          <a:solidFill>
            <a:schemeClr val="bg1"/>
          </a:solidFill>
          <a:ln w="19050">
            <a:solidFill>
              <a:schemeClr val="accent3"/>
            </a:solidFill>
          </a:ln>
        </p:spPr>
        <p:txBody>
          <a:bodyPr wrap="square" lIns="0" tIns="0" rIns="0" bIns="0" rtlCol="0" anchor="ctr"/>
          <a:lstStyle/>
          <a:p>
            <a:pPr algn="ctr" indent="0" marL="0">
              <a:buNone/>
            </a:pPr>
            <a:r>
              <a:rPr lang="en-US" sz="1200" b="1" dirty="0">
                <a:solidFill>
                  <a:schemeClr val="accent3"/>
                </a:solidFill>
              </a:rPr>
              <a:t>KAJ-001</a:t>
            </a:r>
            <a:endParaRPr lang="en-US" sz="1200" dirty="0"/>
          </a:p>
        </p:txBody>
      </p:sp>
      <p:sp>
        <p:nvSpPr>
          <p:cNvPr id="22" name="Node FND-001"/>
          <p:cNvSpPr txBox="1"/>
          <p:nvPr/>
        </p:nvSpPr>
        <p:spPr>
          <a:xfrm>
            <a:off x="4572000" y="3566160"/>
            <a:ext cx="1097280" cy="365760"/>
          </a:xfrm>
          <a:prstGeom prst="roundRect">
            <a:avLst>
              <a:gd name="adj" fmla="val 25000"/>
            </a:avLst>
          </a:prstGeom>
          <a:solidFill>
            <a:schemeClr val="bg1"/>
          </a:solidFill>
          <a:ln w="19050">
            <a:solidFill>
              <a:schemeClr val="accent3"/>
            </a:solidFill>
          </a:ln>
        </p:spPr>
        <p:txBody>
          <a:bodyPr wrap="square" lIns="0" tIns="0" rIns="0" bIns="0" rtlCol="0" anchor="ctr"/>
          <a:lstStyle/>
          <a:p>
            <a:pPr algn="ctr" indent="0" marL="0">
              <a:buNone/>
            </a:pPr>
            <a:r>
              <a:rPr lang="en-US" sz="1200" b="1" dirty="0">
                <a:solidFill>
                  <a:schemeClr val="accent3"/>
                </a:solidFill>
              </a:rPr>
              <a:t>FND-001</a:t>
            </a:r>
            <a:endParaRPr lang="en-US" sz="1200" dirty="0"/>
          </a:p>
        </p:txBody>
      </p:sp>
      <p:sp>
        <p:nvSpPr>
          <p:cNvPr id="23" name="Edge label"/>
          <p:cNvSpPr txBox="1"/>
          <p:nvPr/>
        </p:nvSpPr>
        <p:spPr>
          <a:xfrm>
            <a:off x="1280160" y="4023360"/>
            <a:ext cx="1920240" cy="228600"/>
          </a:xfrm>
          <a:prstGeom prst="rect">
            <a:avLst/>
          </a:prstGeom>
          <a:noFill/>
          <a:ln/>
        </p:spPr>
        <p:txBody>
          <a:bodyPr wrap="square" lIns="0" tIns="0" rIns="0" bIns="0" rtlCol="0" anchor="t"/>
          <a:lstStyle/>
          <a:p>
            <a:pPr algn="ctr" indent="0" marL="0">
              <a:buNone/>
            </a:pPr>
            <a:r>
              <a:rPr lang="en-US" sz="1000" dirty="0">
                <a:solidFill>
                  <a:schemeClr val="accent1"/>
                </a:solidFill>
                <a:latin typeface="Courier New" pitchFamily="34" charset="0"/>
                <a:ea typeface="Courier New" pitchFamily="34" charset="-122"/>
                <a:cs typeface="Courier New" pitchFamily="34" charset="-120"/>
              </a:rPr>
              <a:t>BOUGHT_TOGETHER</a:t>
            </a:r>
            <a:endParaRPr lang="en-US" sz="1000" dirty="0"/>
          </a:p>
        </p:txBody>
      </p:sp>
      <p:sp>
        <p:nvSpPr>
          <p:cNvPr id="24" name="Graph legend"/>
          <p:cNvSpPr txBox="1"/>
          <p:nvPr/>
        </p:nvSpPr>
        <p:spPr>
          <a:xfrm>
            <a:off x="457200" y="4389120"/>
            <a:ext cx="5669280" cy="274320"/>
          </a:xfrm>
          <a:prstGeom prst="rect">
            <a:avLst/>
          </a:prstGeom>
          <a:noFill/>
          <a:ln/>
        </p:spPr>
        <p:txBody>
          <a:bodyPr wrap="square" lIns="0" tIns="0" rIns="0" bIns="0" rtlCol="0" anchor="t"/>
          <a:lstStyle/>
          <a:p>
            <a:pPr indent="0" marL="0">
              <a:buNone/>
            </a:pPr>
            <a:r>
              <a:rPr lang="en-US" sz="1200" dirty="0">
                <a:solidFill>
                  <a:schemeClr val="accent6"/>
                </a:solidFill>
              </a:rPr>
              <a:t>Blue = categories (SUBCATEGORY_OF). Outlined = products (IN_CATEGORY).</a:t>
            </a:r>
            <a:endParaRPr lang="en-US" sz="1200" dirty="0"/>
          </a:p>
        </p:txBody>
      </p:sp>
      <p:sp>
        <p:nvSpPr>
          <p:cNvPr id="25" name="Cypher label"/>
          <p:cNvSpPr txBox="1"/>
          <p:nvPr/>
        </p:nvSpPr>
        <p:spPr>
          <a:xfrm>
            <a:off x="6309360" y="1188720"/>
            <a:ext cx="2377440" cy="228600"/>
          </a:xfrm>
          <a:prstGeom prst="rect">
            <a:avLst/>
          </a:prstGeom>
          <a:noFill/>
          <a:ln/>
        </p:spPr>
        <p:txBody>
          <a:bodyPr wrap="square" lIns="0" tIns="0" rIns="0" bIns="0" rtlCol="0" anchor="t"/>
          <a:lstStyle/>
          <a:p>
            <a:pPr indent="0" marL="0">
              <a:buNone/>
            </a:pPr>
            <a:r>
              <a:rPr lang="en-US" sz="1200" b="1" dirty="0">
                <a:solidFill>
                  <a:schemeClr val="accent6"/>
                </a:solidFill>
              </a:rPr>
              <a:t>Cypher</a:t>
            </a:r>
            <a:endParaRPr lang="en-US" sz="1200" dirty="0"/>
          </a:p>
        </p:txBody>
      </p:sp>
      <p:sp>
        <p:nvSpPr>
          <p:cNvPr id="26" name="Cypher snippet card"/>
          <p:cNvSpPr/>
          <p:nvPr/>
        </p:nvSpPr>
        <p:spPr>
          <a:xfrm>
            <a:off x="6309360" y="1463040"/>
            <a:ext cx="2377440" cy="640080"/>
          </a:xfrm>
          <a:prstGeom prst="roundRect">
            <a:avLst>
              <a:gd name="adj" fmla="val 14286"/>
            </a:avLst>
          </a:prstGeom>
          <a:solidFill>
            <a:schemeClr val="tx1"/>
          </a:solidFill>
          <a:ln/>
        </p:spPr>
      </p:sp>
      <p:sp>
        <p:nvSpPr>
          <p:cNvPr id="27" name="Cypher snippet"/>
          <p:cNvSpPr txBox="1"/>
          <p:nvPr/>
        </p:nvSpPr>
        <p:spPr>
          <a:xfrm>
            <a:off x="6446520" y="1536192"/>
            <a:ext cx="2103120" cy="493776"/>
          </a:xfrm>
          <a:prstGeom prst="rect">
            <a:avLst/>
          </a:prstGeom>
          <a:noFill/>
          <a:ln/>
        </p:spPr>
        <p:txBody>
          <a:bodyPr wrap="square" lIns="0" tIns="0" rIns="0" bIns="0" rtlCol="0" anchor="t"/>
          <a:lstStyle/>
          <a:p>
            <a:pPr indent="0" marL="0">
              <a:buNone/>
            </a:pPr>
            <a:r>
              <a:rPr lang="en-US" sz="1000" dirty="0">
                <a:solidFill>
                  <a:srgbClr val="8DB8FF"/>
                </a:solidFill>
                <a:latin typeface="Courier New" pitchFamily="34" charset="0"/>
                <a:ea typeface="Courier New" pitchFamily="34" charset="-122"/>
                <a:cs typeface="Courier New" pitchFamily="34" charset="-120"/>
              </a:rPr>
              <a:t>(c)&lt;-[:SUBCATEGORY_OF*0..]-</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(sub)&lt;-[:IN_CATEGORY]-(p)</a:t>
            </a:r>
            <a:endParaRPr lang="en-US" sz="1000" dirty="0"/>
          </a:p>
        </p:txBody>
      </p:sp>
      <p:sp>
        <p:nvSpPr>
          <p:cNvPr id="28" name="Cypher explanation"/>
          <p:cNvSpPr txBox="1"/>
          <p:nvPr/>
        </p:nvSpPr>
        <p:spPr>
          <a:xfrm>
            <a:off x="6309360" y="2286000"/>
            <a:ext cx="2377440" cy="822960"/>
          </a:xfrm>
          <a:prstGeom prst="rect">
            <a:avLst/>
          </a:prstGeom>
          <a:noFill/>
          <a:ln/>
        </p:spPr>
        <p:txBody>
          <a:bodyPr wrap="square" lIns="0" tIns="0" rIns="0" bIns="0" rtlCol="0" anchor="t"/>
          <a:lstStyle/>
          <a:p>
            <a:pPr indent="0" marL="0">
              <a:buNone/>
            </a:pPr>
            <a:r>
              <a:rPr lang="en-US" sz="1400" dirty="0">
                <a:solidFill>
                  <a:schemeClr val="tx1"/>
                </a:solidFill>
              </a:rPr>
              <a:t>*0.. means zero or more levels, so subcategories count too.</a:t>
            </a:r>
            <a:endParaRPr lang="en-US" sz="1400" dirty="0"/>
          </a:p>
        </p:txBody>
      </p:sp>
      <p:sp>
        <p:nvSpPr>
          <p:cNvPr id="29" name="Graph result"/>
          <p:cNvSpPr txBox="1"/>
          <p:nvPr/>
        </p:nvSpPr>
        <p:spPr>
          <a:xfrm>
            <a:off x="6309360" y="3291840"/>
            <a:ext cx="2377440" cy="822960"/>
          </a:xfrm>
          <a:prstGeom prst="rect">
            <a:avLst/>
          </a:prstGeom>
          <a:noFill/>
          <a:ln/>
        </p:spPr>
        <p:txBody>
          <a:bodyPr wrap="square" lIns="0" tIns="0" rIns="0" bIns="0" rtlCol="0" anchor="t"/>
          <a:lstStyle/>
          <a:p>
            <a:pPr indent="0" marL="0">
              <a:buNone/>
            </a:pPr>
            <a:r>
              <a:rPr lang="en-US" sz="1400" b="1" dirty="0">
                <a:solidFill>
                  <a:schemeClr val="tx1"/>
                </a:solidFill>
              </a:rPr>
              <a:t>Searching “Makeup” returns 8 products from Lips, Face and Eyes.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Three XML documents</a:t>
            </a:r>
            <a:endParaRPr lang="en-US" sz="3600" dirty="0"/>
          </a:p>
        </p:txBody>
      </p:sp>
      <p:sp>
        <p:nvSpPr>
          <p:cNvPr id="3" name="Mongo piece chip"/>
          <p:cNvSpPr txBox="1"/>
          <p:nvPr/>
        </p:nvSpPr>
        <p:spPr>
          <a:xfrm>
            <a:off x="457200" y="1143000"/>
            <a:ext cx="1371600" cy="274320"/>
          </a:xfrm>
          <a:prstGeom prst="roundRect">
            <a:avLst>
              <a:gd name="adj" fmla="val 46667"/>
            </a:avLst>
          </a:prstGeom>
          <a:solidFill>
            <a:schemeClr val="accent2"/>
          </a:solidFill>
          <a:ln/>
        </p:spPr>
        <p:txBody>
          <a:bodyPr wrap="square" lIns="0" tIns="0" rIns="0" bIns="0" rtlCol="0" anchor="ctr"/>
          <a:lstStyle/>
          <a:p>
            <a:pPr algn="ctr" indent="0" marL="0">
              <a:buNone/>
            </a:pPr>
            <a:r>
              <a:rPr lang="en-US" sz="1200" b="1" dirty="0">
                <a:solidFill>
                  <a:schemeClr val="bg1"/>
                </a:solidFill>
              </a:rPr>
              <a:t>MongoDB piece</a:t>
            </a:r>
            <a:endParaRPr lang="en-US" sz="1200" dirty="0"/>
          </a:p>
        </p:txBody>
      </p:sp>
      <p:sp>
        <p:nvSpPr>
          <p:cNvPr id="4" name="Mongo piece code card"/>
          <p:cNvSpPr/>
          <p:nvPr/>
        </p:nvSpPr>
        <p:spPr>
          <a:xfrm>
            <a:off x="457200" y="1444752"/>
            <a:ext cx="4023360" cy="1417320"/>
          </a:xfrm>
          <a:prstGeom prst="roundRect">
            <a:avLst>
              <a:gd name="adj" fmla="val 6452"/>
            </a:avLst>
          </a:prstGeom>
          <a:solidFill>
            <a:schemeClr val="tx1"/>
          </a:solidFill>
          <a:ln/>
        </p:spPr>
      </p:sp>
      <p:sp>
        <p:nvSpPr>
          <p:cNvPr id="5" name="Mongo piece code"/>
          <p:cNvSpPr txBox="1"/>
          <p:nvPr/>
        </p:nvSpPr>
        <p:spPr>
          <a:xfrm>
            <a:off x="594360" y="1517904"/>
            <a:ext cx="3749040" cy="1271016"/>
          </a:xfrm>
          <a:prstGeom prst="rect">
            <a:avLst/>
          </a:prstGeom>
          <a:noFill/>
          <a:ln/>
        </p:spPr>
        <p:txBody>
          <a:bodyPr wrap="square" lIns="0" tIns="0" rIns="0" bIns="0" rtlCol="0" anchor="t"/>
          <a:lstStyle/>
          <a:p>
            <a:pPr indent="0" marL="0">
              <a:buNone/>
            </a:pPr>
            <a:r>
              <a:rPr lang="en-US" sz="1000" dirty="0">
                <a:solidFill>
                  <a:srgbClr val="7FD9A8"/>
                </a:solidFill>
                <a:latin typeface="Courier New" pitchFamily="34" charset="0"/>
                <a:ea typeface="Courier New" pitchFamily="34" charset="-122"/>
                <a:cs typeface="Courier New" pitchFamily="34" charset="-120"/>
              </a:rPr>
              <a:t>&lt;product sku="LIP-001"&gt;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&lt;name&gt;SuperStay Matte Ink …&lt;/name&gt;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&lt;price currency="INR"&gt;699&lt;/price&gt;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&lt;attributes&gt;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&lt;attribute name="shade"&gt;Pioneer&lt;/attribute&gt;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&lt;/attributes&gt;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&lt;stock total="200"&gt; … &lt;/stock&gt;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&lt;/product&gt;</a:t>
            </a:r>
            <a:endParaRPr lang="en-US" sz="1000" dirty="0"/>
          </a:p>
        </p:txBody>
      </p:sp>
      <p:sp>
        <p:nvSpPr>
          <p:cNvPr id="6" name="Neo4j piece chip"/>
          <p:cNvSpPr txBox="1"/>
          <p:nvPr/>
        </p:nvSpPr>
        <p:spPr>
          <a:xfrm>
            <a:off x="457200" y="2971800"/>
            <a:ext cx="1188720" cy="274320"/>
          </a:xfrm>
          <a:prstGeom prst="roundRect">
            <a:avLst>
              <a:gd name="adj" fmla="val 46667"/>
            </a:avLst>
          </a:prstGeom>
          <a:solidFill>
            <a:schemeClr val="accent3"/>
          </a:solidFill>
          <a:ln/>
        </p:spPr>
        <p:txBody>
          <a:bodyPr wrap="square" lIns="0" tIns="0" rIns="0" bIns="0" rtlCol="0" anchor="ctr"/>
          <a:lstStyle/>
          <a:p>
            <a:pPr algn="ctr" indent="0" marL="0">
              <a:buNone/>
            </a:pPr>
            <a:r>
              <a:rPr lang="en-US" sz="1200" b="1" dirty="0">
                <a:solidFill>
                  <a:schemeClr val="bg1"/>
                </a:solidFill>
              </a:rPr>
              <a:t>Neo4j piece</a:t>
            </a:r>
            <a:endParaRPr lang="en-US" sz="1200" dirty="0"/>
          </a:p>
        </p:txBody>
      </p:sp>
      <p:sp>
        <p:nvSpPr>
          <p:cNvPr id="7" name="Neo4j piece code card"/>
          <p:cNvSpPr/>
          <p:nvPr/>
        </p:nvSpPr>
        <p:spPr>
          <a:xfrm>
            <a:off x="457200" y="3273552"/>
            <a:ext cx="4023360" cy="1280160"/>
          </a:xfrm>
          <a:prstGeom prst="roundRect">
            <a:avLst>
              <a:gd name="adj" fmla="val 7143"/>
            </a:avLst>
          </a:prstGeom>
          <a:solidFill>
            <a:schemeClr val="tx1"/>
          </a:solidFill>
          <a:ln/>
        </p:spPr>
      </p:sp>
      <p:sp>
        <p:nvSpPr>
          <p:cNvPr id="8" name="Neo4j piece code"/>
          <p:cNvSpPr txBox="1"/>
          <p:nvPr/>
        </p:nvSpPr>
        <p:spPr>
          <a:xfrm>
            <a:off x="594360" y="3346704"/>
            <a:ext cx="3749040" cy="1133856"/>
          </a:xfrm>
          <a:prstGeom prst="rect">
            <a:avLst/>
          </a:prstGeom>
          <a:noFill/>
          <a:ln/>
        </p:spPr>
        <p:txBody>
          <a:bodyPr wrap="square" lIns="0" tIns="0" rIns="0" bIns="0" rtlCol="0" anchor="t"/>
          <a:lstStyle/>
          <a:p>
            <a:pPr indent="0" marL="0">
              <a:buNone/>
            </a:pPr>
            <a:r>
              <a:rPr lang="en-US" sz="1000" dirty="0">
                <a:solidFill>
                  <a:srgbClr val="8DB8FF"/>
                </a:solidFill>
                <a:latin typeface="Courier New" pitchFamily="34" charset="0"/>
                <a:ea typeface="Courier New" pitchFamily="34" charset="-122"/>
                <a:cs typeface="Courier New" pitchFamily="34" charset="-120"/>
              </a:rPr>
              <a:t>&lt;product sku="LIP-001"&gt;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&lt;category_path&gt;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&lt;category&gt;Makeup&lt;/category&gt;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&lt;category&gt; … &lt;/category&gt;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&lt;/category_path&gt;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&lt;related&gt; … &lt;/related&gt;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&lt;/product&gt;</a:t>
            </a:r>
            <a:endParaRPr lang="en-US" sz="1000" dirty="0"/>
          </a:p>
        </p:txBody>
      </p:sp>
      <p:sp>
        <p:nvSpPr>
          <p:cNvPr id="9" name="Merged chip"/>
          <p:cNvSpPr txBox="1"/>
          <p:nvPr/>
        </p:nvSpPr>
        <p:spPr>
          <a:xfrm>
            <a:off x="4754880" y="1143000"/>
            <a:ext cx="1371600" cy="274320"/>
          </a:xfrm>
          <a:prstGeom prst="roundRect">
            <a:avLst>
              <a:gd name="adj" fmla="val 46667"/>
            </a:avLst>
          </a:prstGeom>
          <a:solidFill>
            <a:schemeClr val="accent1"/>
          </a:solidFill>
          <a:ln/>
        </p:spPr>
        <p:txBody>
          <a:bodyPr wrap="square" lIns="0" tIns="0" rIns="0" bIns="0" rtlCol="0" anchor="ctr"/>
          <a:lstStyle/>
          <a:p>
            <a:pPr algn="ctr" indent="0" marL="0">
              <a:buNone/>
            </a:pPr>
            <a:r>
              <a:rPr lang="en-US" sz="1200" b="1" dirty="0">
                <a:solidFill>
                  <a:schemeClr val="bg1"/>
                </a:solidFill>
              </a:rPr>
              <a:t>Merged by SKU</a:t>
            </a:r>
            <a:endParaRPr lang="en-US" sz="1200" dirty="0"/>
          </a:p>
        </p:txBody>
      </p:sp>
      <p:sp>
        <p:nvSpPr>
          <p:cNvPr id="10" name="Merged code card"/>
          <p:cNvSpPr/>
          <p:nvPr/>
        </p:nvSpPr>
        <p:spPr>
          <a:xfrm>
            <a:off x="4754880" y="1444752"/>
            <a:ext cx="3931920" cy="1737360"/>
          </a:xfrm>
          <a:prstGeom prst="roundRect">
            <a:avLst>
              <a:gd name="adj" fmla="val 5263"/>
            </a:avLst>
          </a:prstGeom>
          <a:solidFill>
            <a:schemeClr val="tx1"/>
          </a:solidFill>
          <a:ln/>
        </p:spPr>
      </p:sp>
      <p:sp>
        <p:nvSpPr>
          <p:cNvPr id="11" name="Merged code"/>
          <p:cNvSpPr txBox="1"/>
          <p:nvPr/>
        </p:nvSpPr>
        <p:spPr>
          <a:xfrm>
            <a:off x="4892040" y="1517904"/>
            <a:ext cx="3657600" cy="1591056"/>
          </a:xfrm>
          <a:prstGeom prst="rect">
            <a:avLst/>
          </a:prstGeom>
          <a:noFill/>
          <a:ln/>
        </p:spPr>
        <p:txBody>
          <a:bodyPr wrap="square" lIns="0" tIns="0" rIns="0" bIns="0" rtlCol="0" anchor="t"/>
          <a:lstStyle/>
          <a:p>
            <a:pPr indent="0" marL="0">
              <a:buNone/>
            </a:pPr>
            <a:r>
              <a:rPr lang="en-US" sz="1000" dirty="0">
                <a:solidFill>
                  <a:srgbClr val="F3E6EE"/>
                </a:solidFill>
                <a:latin typeface="Courier New" pitchFamily="34" charset="0"/>
                <a:ea typeface="Courier New" pitchFamily="34" charset="-122"/>
                <a:cs typeface="Courier New" pitchFamily="34" charset="-120"/>
              </a:rPr>
              <a:t>&lt;merchandise query="LIP-001" mode="sku" …&gt;</a:t>
            </a:r>
            <a:endParaRPr lang="en-US" sz="1000" dirty="0"/>
          </a:p>
          <a:p>
            <a:pPr indent="0" marL="0">
              <a:buNone/>
            </a:pPr>
            <a:r>
              <a:rPr lang="en-US" sz="1000" dirty="0">
                <a:solidFill>
                  <a:srgbClr val="F3E6EE"/>
                </a:solidFill>
                <a:latin typeface="Courier New" pitchFamily="34" charset="0"/>
                <a:ea typeface="Courier New" pitchFamily="34" charset="-122"/>
                <a:cs typeface="Courier New" pitchFamily="34" charset="-120"/>
              </a:rPr>
              <a:t>  &lt;product sku="LIP-001"&gt;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&lt;name&gt;SuperStay Matte Ink …&lt;/name&gt;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&lt;price currency="INR"&gt;699&lt;/price&gt;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&lt;attributes&gt; … &lt;/attributes&gt;</a:t>
            </a:r>
            <a:endParaRPr lang="en-US" sz="1000" dirty="0"/>
          </a:p>
          <a:p>
            <a:pPr indent="0" marL="0">
              <a:buNone/>
            </a:pPr>
            <a:r>
              <a:rPr lang="en-US" sz="1000" dirty="0">
                <a:solidFill>
                  <a:srgbClr val="7FD9A8"/>
                </a:solidFill>
                <a:latin typeface="Courier New" pitchFamily="34" charset="0"/>
                <a:ea typeface="Courier New" pitchFamily="34" charset="-122"/>
                <a:cs typeface="Courier New" pitchFamily="34" charset="-120"/>
              </a:rPr>
              <a:t>    &lt;stock total="200"&gt; … &lt;/stock&gt;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&lt;category_path&gt; … &lt;/category_path&gt;</a:t>
            </a:r>
            <a:endParaRPr lang="en-US" sz="1000" dirty="0"/>
          </a:p>
          <a:p>
            <a:pPr indent="0" marL="0">
              <a:buNone/>
            </a:pPr>
            <a:r>
              <a:rPr lang="en-US" sz="1000" dirty="0">
                <a:solidFill>
                  <a:srgbClr val="8DB8FF"/>
                </a:solidFill>
                <a:latin typeface="Courier New" pitchFamily="34" charset="0"/>
                <a:ea typeface="Courier New" pitchFamily="34" charset="-122"/>
                <a:cs typeface="Courier New" pitchFamily="34" charset="-120"/>
              </a:rPr>
              <a:t>    &lt;related&gt; … &lt;/related&gt;</a:t>
            </a:r>
            <a:endParaRPr lang="en-US" sz="1000" dirty="0"/>
          </a:p>
          <a:p>
            <a:pPr indent="0" marL="0">
              <a:buNone/>
            </a:pPr>
            <a:r>
              <a:rPr lang="en-US" sz="1000" dirty="0">
                <a:solidFill>
                  <a:srgbClr val="F3E6EE"/>
                </a:solidFill>
                <a:latin typeface="Courier New" pitchFamily="34" charset="0"/>
                <a:ea typeface="Courier New" pitchFamily="34" charset="-122"/>
                <a:cs typeface="Courier New" pitchFamily="34" charset="-120"/>
              </a:rPr>
              <a:t>  &lt;/product&gt;</a:t>
            </a:r>
            <a:endParaRPr lang="en-US" sz="1000" dirty="0"/>
          </a:p>
          <a:p>
            <a:pPr indent="0" marL="0">
              <a:buNone/>
            </a:pPr>
            <a:r>
              <a:rPr lang="en-US" sz="1000" dirty="0">
                <a:solidFill>
                  <a:srgbClr val="F3E6EE"/>
                </a:solidFill>
                <a:latin typeface="Courier New" pitchFamily="34" charset="0"/>
                <a:ea typeface="Courier New" pitchFamily="34" charset="-122"/>
                <a:cs typeface="Courier New" pitchFamily="34" charset="-120"/>
              </a:rPr>
              <a:t>&lt;/merchandise&gt;</a:t>
            </a:r>
            <a:endParaRPr lang="en-US" sz="1000" dirty="0"/>
          </a:p>
        </p:txBody>
      </p:sp>
      <p:sp>
        <p:nvSpPr>
          <p:cNvPr id="12" name="Merge notes"/>
          <p:cNvSpPr txBox="1"/>
          <p:nvPr/>
        </p:nvSpPr>
        <p:spPr>
          <a:xfrm>
            <a:off x="4754880" y="3383280"/>
            <a:ext cx="39319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Green parts came from MongoDB, blue from Neo4j.</a:t>
            </a:r>
            <a:endParaRPr lang="en-US" sz="1400" dirty="0"/>
          </a:p>
          <a:p>
            <a:pPr marL="342900" indent="-342900">
              <a:spcAft>
                <a:spcPts val="600"/>
              </a:spcAft>
              <a:buSzPct val="100000"/>
              <a:buChar char="•"/>
            </a:pPr>
            <a:r>
              <a:rPr lang="en-US" sz="1400" dirty="0">
                <a:solidFill>
                  <a:schemeClr val="tx1"/>
                </a:solidFill>
              </a:rPr>
              <a:t>The sku attribute is the join key.</a:t>
            </a:r>
            <a:endParaRPr lang="en-US" sz="1400" dirty="0"/>
          </a:p>
          <a:p>
            <a:pPr marL="342900" indent="-342900">
              <a:buSzPct val="100000"/>
              <a:buChar char="•"/>
            </a:pPr>
            <a:r>
              <a:rPr lang="en-US" sz="1400" dirty="0">
                <a:solidFill>
                  <a:schemeClr val="tx1"/>
                </a:solidFill>
              </a:rPr>
              <a:t>MongoDB parts first, then Neo4j: the order the XSD requires.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XML Schema</a:t>
            </a:r>
            <a:endParaRPr lang="en-US" sz="3600" dirty="0"/>
          </a:p>
        </p:txBody>
      </p:sp>
      <p:sp>
        <p:nvSpPr>
          <p:cNvPr id="3" name="Schema card 1"/>
          <p:cNvSpPr/>
          <p:nvPr/>
        </p:nvSpPr>
        <p:spPr>
          <a:xfrm>
            <a:off x="457200" y="1188720"/>
            <a:ext cx="2560320" cy="1600200"/>
          </a:xfrm>
          <a:prstGeom prst="roundRect">
            <a:avLst>
              <a:gd name="adj" fmla="val 6857"/>
            </a:avLst>
          </a:prstGeom>
          <a:solidFill>
            <a:schemeClr val="bg2"/>
          </a:solidFill>
          <a:ln/>
        </p:spPr>
      </p:sp>
      <p:sp>
        <p:nvSpPr>
          <p:cNvPr id="4" name="Schema heading 1"/>
          <p:cNvSpPr txBox="1"/>
          <p:nvPr/>
        </p:nvSpPr>
        <p:spPr>
          <a:xfrm>
            <a:off x="594360" y="12984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Root element</a:t>
            </a:r>
            <a:endParaRPr lang="en-US" sz="1600" dirty="0"/>
          </a:p>
        </p:txBody>
      </p:sp>
      <p:sp>
        <p:nvSpPr>
          <p:cNvPr id="5" name="Schema rule 1"/>
          <p:cNvSpPr txBox="1"/>
          <p:nvPr/>
        </p:nvSpPr>
        <p:spPr>
          <a:xfrm>
            <a:off x="594360" y="16642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mode="sku|category|none"</a:t>
            </a:r>
            <a:endParaRPr lang="en-US" sz="1100" dirty="0"/>
          </a:p>
        </p:txBody>
      </p:sp>
      <p:sp>
        <p:nvSpPr>
          <p:cNvPr id="6" name="Schema meaning 1"/>
          <p:cNvSpPr txBox="1"/>
          <p:nvPr/>
        </p:nvSpPr>
        <p:spPr>
          <a:xfrm>
            <a:off x="594360" y="1993392"/>
            <a:ext cx="2286000" cy="731520"/>
          </a:xfrm>
          <a:prstGeom prst="rect">
            <a:avLst/>
          </a:prstGeom>
          <a:noFill/>
          <a:ln/>
        </p:spPr>
        <p:txBody>
          <a:bodyPr wrap="square" lIns="0" tIns="0" rIns="0" bIns="0" rtlCol="0" anchor="t"/>
          <a:lstStyle/>
          <a:p>
            <a:pPr indent="0" marL="0">
              <a:buNone/>
            </a:pPr>
            <a:r>
              <a:rPr lang="en-US" sz="1400" dirty="0">
                <a:solidFill>
                  <a:schemeClr val="tx1"/>
                </a:solidFill>
              </a:rPr>
              <a:t>merchandise holds query, mode and count.</a:t>
            </a:r>
            <a:endParaRPr lang="en-US" sz="1400" dirty="0"/>
          </a:p>
        </p:txBody>
      </p:sp>
      <p:sp>
        <p:nvSpPr>
          <p:cNvPr id="7" name="Schema card 2"/>
          <p:cNvSpPr/>
          <p:nvPr/>
        </p:nvSpPr>
        <p:spPr>
          <a:xfrm>
            <a:off x="3291840" y="1188720"/>
            <a:ext cx="2560320" cy="1600200"/>
          </a:xfrm>
          <a:prstGeom prst="roundRect">
            <a:avLst>
              <a:gd name="adj" fmla="val 6857"/>
            </a:avLst>
          </a:prstGeom>
          <a:solidFill>
            <a:schemeClr val="bg2"/>
          </a:solidFill>
          <a:ln/>
        </p:spPr>
      </p:sp>
      <p:sp>
        <p:nvSpPr>
          <p:cNvPr id="8" name="Schema heading 2"/>
          <p:cNvSpPr txBox="1"/>
          <p:nvPr/>
        </p:nvSpPr>
        <p:spPr>
          <a:xfrm>
            <a:off x="3429000" y="12984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Restricted values</a:t>
            </a:r>
            <a:endParaRPr lang="en-US" sz="1600" dirty="0"/>
          </a:p>
        </p:txBody>
      </p:sp>
      <p:sp>
        <p:nvSpPr>
          <p:cNvPr id="9" name="Schema rule 2"/>
          <p:cNvSpPr txBox="1"/>
          <p:nvPr/>
        </p:nvSpPr>
        <p:spPr>
          <a:xfrm>
            <a:off x="3429000" y="16642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[A-Z]{3}-[0-9]{3}</a:t>
            </a:r>
            <a:endParaRPr lang="en-US" sz="1100" dirty="0"/>
          </a:p>
        </p:txBody>
      </p:sp>
      <p:sp>
        <p:nvSpPr>
          <p:cNvPr id="10" name="Schema meaning 2"/>
          <p:cNvSpPr txBox="1"/>
          <p:nvPr/>
        </p:nvSpPr>
        <p:spPr>
          <a:xfrm>
            <a:off x="3429000" y="1993392"/>
            <a:ext cx="2286000" cy="731520"/>
          </a:xfrm>
          <a:prstGeom prst="rect">
            <a:avLst/>
          </a:prstGeom>
          <a:noFill/>
          <a:ln/>
        </p:spPr>
        <p:txBody>
          <a:bodyPr wrap="square" lIns="0" tIns="0" rIns="0" bIns="0" rtlCol="0" anchor="t"/>
          <a:lstStyle/>
          <a:p>
            <a:pPr indent="0" marL="0">
              <a:buNone/>
            </a:pPr>
            <a:r>
              <a:rPr lang="en-US" sz="1400" dirty="0">
                <a:solidFill>
                  <a:schemeClr val="tx1"/>
                </a:solidFill>
              </a:rPr>
              <a:t>SKU pattern. Status is OK, LOW or OUT.</a:t>
            </a:r>
            <a:endParaRPr lang="en-US" sz="1400" dirty="0"/>
          </a:p>
        </p:txBody>
      </p:sp>
      <p:sp>
        <p:nvSpPr>
          <p:cNvPr id="11" name="Schema card 3"/>
          <p:cNvSpPr/>
          <p:nvPr/>
        </p:nvSpPr>
        <p:spPr>
          <a:xfrm>
            <a:off x="6126480" y="1188720"/>
            <a:ext cx="2560320" cy="1600200"/>
          </a:xfrm>
          <a:prstGeom prst="roundRect">
            <a:avLst>
              <a:gd name="adj" fmla="val 6857"/>
            </a:avLst>
          </a:prstGeom>
          <a:solidFill>
            <a:schemeClr val="bg2"/>
          </a:solidFill>
          <a:ln/>
        </p:spPr>
      </p:sp>
      <p:sp>
        <p:nvSpPr>
          <p:cNvPr id="12" name="Schema heading 3"/>
          <p:cNvSpPr txBox="1"/>
          <p:nvPr/>
        </p:nvSpPr>
        <p:spPr>
          <a:xfrm>
            <a:off x="6263640" y="12984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Typed numbers</a:t>
            </a:r>
            <a:endParaRPr lang="en-US" sz="1600" dirty="0"/>
          </a:p>
        </p:txBody>
      </p:sp>
      <p:sp>
        <p:nvSpPr>
          <p:cNvPr id="13" name="Schema rule 3"/>
          <p:cNvSpPr txBox="1"/>
          <p:nvPr/>
        </p:nvSpPr>
        <p:spPr>
          <a:xfrm>
            <a:off x="6263640" y="16642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xs:nonNegativeInteger</a:t>
            </a:r>
            <a:endParaRPr lang="en-US" sz="1100" dirty="0"/>
          </a:p>
        </p:txBody>
      </p:sp>
      <p:sp>
        <p:nvSpPr>
          <p:cNvPr id="14" name="Schema meaning 3"/>
          <p:cNvSpPr txBox="1"/>
          <p:nvPr/>
        </p:nvSpPr>
        <p:spPr>
          <a:xfrm>
            <a:off x="6263640" y="1993392"/>
            <a:ext cx="2286000" cy="731520"/>
          </a:xfrm>
          <a:prstGeom prst="rect">
            <a:avLst/>
          </a:prstGeom>
          <a:noFill/>
          <a:ln/>
        </p:spPr>
        <p:txBody>
          <a:bodyPr wrap="square" lIns="0" tIns="0" rIns="0" bIns="0" rtlCol="0" anchor="t"/>
          <a:lstStyle/>
          <a:p>
            <a:pPr indent="0" marL="0">
              <a:buNone/>
            </a:pPr>
            <a:r>
              <a:rPr lang="en-US" sz="1400" dirty="0">
                <a:solidFill>
                  <a:schemeClr val="tx1"/>
                </a:solidFill>
              </a:rPr>
              <a:t>Quantities are whole numbers, prices never negative.</a:t>
            </a:r>
            <a:endParaRPr lang="en-US" sz="1400" dirty="0"/>
          </a:p>
        </p:txBody>
      </p:sp>
      <p:sp>
        <p:nvSpPr>
          <p:cNvPr id="15" name="Schema card 4"/>
          <p:cNvSpPr/>
          <p:nvPr/>
        </p:nvSpPr>
        <p:spPr>
          <a:xfrm>
            <a:off x="457200" y="3017520"/>
            <a:ext cx="2560320" cy="1600200"/>
          </a:xfrm>
          <a:prstGeom prst="roundRect">
            <a:avLst>
              <a:gd name="adj" fmla="val 6857"/>
            </a:avLst>
          </a:prstGeom>
          <a:solidFill>
            <a:schemeClr val="bg2"/>
          </a:solidFill>
          <a:ln/>
        </p:spPr>
      </p:sp>
      <p:sp>
        <p:nvSpPr>
          <p:cNvPr id="16" name="Schema heading 4"/>
          <p:cNvSpPr txBox="1"/>
          <p:nvPr/>
        </p:nvSpPr>
        <p:spPr>
          <a:xfrm>
            <a:off x="594360" y="31272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Flexible attributes</a:t>
            </a:r>
            <a:endParaRPr lang="en-US" sz="1600" dirty="0"/>
          </a:p>
        </p:txBody>
      </p:sp>
      <p:sp>
        <p:nvSpPr>
          <p:cNvPr id="17" name="Schema rule 4"/>
          <p:cNvSpPr txBox="1"/>
          <p:nvPr/>
        </p:nvSpPr>
        <p:spPr>
          <a:xfrm>
            <a:off x="594360" y="34930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&lt;attribute name="spf"&gt;</a:t>
            </a:r>
            <a:endParaRPr lang="en-US" sz="1100" dirty="0"/>
          </a:p>
        </p:txBody>
      </p:sp>
      <p:sp>
        <p:nvSpPr>
          <p:cNvPr id="18" name="Schema meaning 4"/>
          <p:cNvSpPr txBox="1"/>
          <p:nvPr/>
        </p:nvSpPr>
        <p:spPr>
          <a:xfrm>
            <a:off x="594360" y="3822192"/>
            <a:ext cx="2286000" cy="731520"/>
          </a:xfrm>
          <a:prstGeom prst="rect">
            <a:avLst/>
          </a:prstGeom>
          <a:noFill/>
          <a:ln/>
        </p:spPr>
        <p:txBody>
          <a:bodyPr wrap="square" lIns="0" tIns="0" rIns="0" bIns="0" rtlCol="0" anchor="t"/>
          <a:lstStyle/>
          <a:p>
            <a:pPr indent="0" marL="0">
              <a:buNone/>
            </a:pPr>
            <a:r>
              <a:rPr lang="en-US" sz="1400" dirty="0">
                <a:solidFill>
                  <a:schemeClr val="tx1"/>
                </a:solidFill>
              </a:rPr>
              <a:t>The name is data, so one schema fits every product.</a:t>
            </a:r>
            <a:endParaRPr lang="en-US" sz="1400" dirty="0"/>
          </a:p>
        </p:txBody>
      </p:sp>
      <p:sp>
        <p:nvSpPr>
          <p:cNvPr id="19" name="Schema card 5"/>
          <p:cNvSpPr/>
          <p:nvPr/>
        </p:nvSpPr>
        <p:spPr>
          <a:xfrm>
            <a:off x="3291840" y="3017520"/>
            <a:ext cx="2560320" cy="1600200"/>
          </a:xfrm>
          <a:prstGeom prst="roundRect">
            <a:avLst>
              <a:gd name="adj" fmla="val 6857"/>
            </a:avLst>
          </a:prstGeom>
          <a:solidFill>
            <a:schemeClr val="bg2"/>
          </a:solidFill>
          <a:ln/>
        </p:spPr>
      </p:sp>
      <p:sp>
        <p:nvSpPr>
          <p:cNvPr id="20" name="Schema heading 5"/>
          <p:cNvSpPr txBox="1"/>
          <p:nvPr/>
        </p:nvSpPr>
        <p:spPr>
          <a:xfrm>
            <a:off x="3429000" y="31272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Optional parts</a:t>
            </a:r>
            <a:endParaRPr lang="en-US" sz="1600" dirty="0"/>
          </a:p>
        </p:txBody>
      </p:sp>
      <p:sp>
        <p:nvSpPr>
          <p:cNvPr id="21" name="Schema rule 5"/>
          <p:cNvSpPr txBox="1"/>
          <p:nvPr/>
        </p:nvSpPr>
        <p:spPr>
          <a:xfrm>
            <a:off x="3429000" y="34930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minOccurs="0"</a:t>
            </a:r>
            <a:endParaRPr lang="en-US" sz="1100" dirty="0"/>
          </a:p>
        </p:txBody>
      </p:sp>
      <p:sp>
        <p:nvSpPr>
          <p:cNvPr id="22" name="Schema meaning 5"/>
          <p:cNvSpPr txBox="1"/>
          <p:nvPr/>
        </p:nvSpPr>
        <p:spPr>
          <a:xfrm>
            <a:off x="3429000" y="3822192"/>
            <a:ext cx="2286000" cy="731520"/>
          </a:xfrm>
          <a:prstGeom prst="rect">
            <a:avLst/>
          </a:prstGeom>
          <a:noFill/>
          <a:ln/>
        </p:spPr>
        <p:txBody>
          <a:bodyPr wrap="square" lIns="0" tIns="0" rIns="0" bIns="0" rtlCol="0" anchor="t"/>
          <a:lstStyle/>
          <a:p>
            <a:pPr indent="0" marL="0">
              <a:buNone/>
            </a:pPr>
            <a:r>
              <a:rPr lang="en-US" sz="1400" dirty="0">
                <a:solidFill>
                  <a:schemeClr val="tx1"/>
                </a:solidFill>
              </a:rPr>
              <a:t>Only sku is required, so partial data stays valid.</a:t>
            </a:r>
            <a:endParaRPr lang="en-US" sz="1400" dirty="0"/>
          </a:p>
        </p:txBody>
      </p:sp>
      <p:sp>
        <p:nvSpPr>
          <p:cNvPr id="23" name="Schema card 6"/>
          <p:cNvSpPr/>
          <p:nvPr/>
        </p:nvSpPr>
        <p:spPr>
          <a:xfrm>
            <a:off x="6126480" y="3017520"/>
            <a:ext cx="2560320" cy="1600200"/>
          </a:xfrm>
          <a:prstGeom prst="roundRect">
            <a:avLst>
              <a:gd name="adj" fmla="val 6857"/>
            </a:avLst>
          </a:prstGeom>
          <a:solidFill>
            <a:schemeClr val="bg2"/>
          </a:solidFill>
          <a:ln/>
        </p:spPr>
      </p:sp>
      <p:sp>
        <p:nvSpPr>
          <p:cNvPr id="24" name="Schema heading 6"/>
          <p:cNvSpPr txBox="1"/>
          <p:nvPr/>
        </p:nvSpPr>
        <p:spPr>
          <a:xfrm>
            <a:off x="6263640" y="3127248"/>
            <a:ext cx="2286000" cy="320040"/>
          </a:xfrm>
          <a:prstGeom prst="rect">
            <a:avLst/>
          </a:prstGeom>
          <a:noFill/>
          <a:ln/>
        </p:spPr>
        <p:txBody>
          <a:bodyPr wrap="square" lIns="0" tIns="0" rIns="0" bIns="0" rtlCol="0" anchor="t"/>
          <a:lstStyle/>
          <a:p>
            <a:pPr indent="0" marL="0">
              <a:buNone/>
            </a:pPr>
            <a:r>
              <a:rPr lang="en-US" sz="1600" b="1" dirty="0">
                <a:solidFill>
                  <a:schemeClr val="tx1"/>
                </a:solidFill>
              </a:rPr>
              <a:t>Unique SKUs</a:t>
            </a:r>
            <a:endParaRPr lang="en-US" sz="1600" dirty="0"/>
          </a:p>
        </p:txBody>
      </p:sp>
      <p:sp>
        <p:nvSpPr>
          <p:cNvPr id="25" name="Schema rule 6"/>
          <p:cNvSpPr txBox="1"/>
          <p:nvPr/>
        </p:nvSpPr>
        <p:spPr>
          <a:xfrm>
            <a:off x="6263640" y="3493008"/>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xs:unique @sku</a:t>
            </a:r>
            <a:endParaRPr lang="en-US" sz="1100" dirty="0"/>
          </a:p>
        </p:txBody>
      </p:sp>
      <p:sp>
        <p:nvSpPr>
          <p:cNvPr id="26" name="Schema meaning 6"/>
          <p:cNvSpPr txBox="1"/>
          <p:nvPr/>
        </p:nvSpPr>
        <p:spPr>
          <a:xfrm>
            <a:off x="6263640" y="3822192"/>
            <a:ext cx="2286000" cy="731520"/>
          </a:xfrm>
          <a:prstGeom prst="rect">
            <a:avLst/>
          </a:prstGeom>
          <a:noFill/>
          <a:ln/>
        </p:spPr>
        <p:txBody>
          <a:bodyPr wrap="square" lIns="0" tIns="0" rIns="0" bIns="0" rtlCol="0" anchor="t"/>
          <a:lstStyle/>
          <a:p>
            <a:pPr indent="0" marL="0">
              <a:buNone/>
            </a:pPr>
            <a:r>
              <a:rPr lang="en-US" sz="1400" dirty="0">
                <a:solidFill>
                  <a:schemeClr val="tx1"/>
                </a:solidFill>
              </a:rPr>
              <a:t>Two products with one SKU are rejected.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When a database fails</a:t>
            </a:r>
            <a:endParaRPr lang="en-US" sz="3600" dirty="0"/>
          </a:p>
        </p:txBody>
      </p:sp>
      <p:pic>
        <p:nvPicPr>
          <p:cNvPr id="3" name="Image 0" descr="Search page with Neo4j stopped: error banner, category unavailable, MongoDB data still shown">    </p:cNvPr>
          <p:cNvPicPr>
            <a:picLocks noChangeAspect="1"/>
          </p:cNvPicPr>
          <p:nvPr/>
        </p:nvPicPr>
        <p:blipFill>
          <a:blip r:embed="rId1"/>
          <a:stretch>
            <a:fillRect/>
          </a:stretch>
        </p:blipFill>
        <p:spPr>
          <a:xfrm>
            <a:off x="457200" y="1188720"/>
            <a:ext cx="4754880" cy="3063240"/>
          </a:xfrm>
          <a:prstGeom prst="rect">
            <a:avLst/>
          </a:prstGeom>
          <a:effectLst>
            <a:outerShdw sx="100000" sy="100000" kx="0" ky="0" algn="bl" rotWithShape="0" blurRad="101600" dist="25400" dir="5400000">
              <a:srgbClr val="000000">
                <a:alpha val="18000"/>
              </a:srgbClr>
            </a:outerShdw>
          </a:effectLst>
        </p:spPr>
      </p:pic>
      <p:sp>
        <p:nvSpPr>
          <p:cNvPr id="4" name="Failure caption"/>
          <p:cNvSpPr txBox="1"/>
          <p:nvPr/>
        </p:nvSpPr>
        <p:spPr>
          <a:xfrm>
            <a:off x="457200" y="4343400"/>
            <a:ext cx="4754880" cy="365760"/>
          </a:xfrm>
          <a:prstGeom prst="rect">
            <a:avLst/>
          </a:prstGeom>
          <a:noFill/>
          <a:ln/>
        </p:spPr>
        <p:txBody>
          <a:bodyPr wrap="square" lIns="0" tIns="0" rIns="0" bIns="0" rtlCol="0" anchor="t"/>
          <a:lstStyle/>
          <a:p>
            <a:pPr indent="0" marL="0">
              <a:buNone/>
            </a:pPr>
            <a:r>
              <a:rPr lang="en-US" sz="1200" dirty="0">
                <a:solidFill>
                  <a:schemeClr val="accent6"/>
                </a:solidFill>
              </a:rPr>
              <a:t>Neo4j stopped: the search waits about 5 s, then answers.</a:t>
            </a:r>
            <a:endParaRPr lang="en-US" sz="1200" dirty="0"/>
          </a:p>
        </p:txBody>
      </p:sp>
      <p:sp>
        <p:nvSpPr>
          <p:cNvPr id="5" name="Failure points"/>
          <p:cNvSpPr txBox="1"/>
          <p:nvPr/>
        </p:nvSpPr>
        <p:spPr>
          <a:xfrm>
            <a:off x="5486400" y="1188720"/>
            <a:ext cx="3200400" cy="3063240"/>
          </a:xfrm>
          <a:prstGeom prst="rect">
            <a:avLst/>
          </a:prstGeom>
          <a:noFill/>
          <a:ln/>
        </p:spPr>
        <p:txBody>
          <a:bodyPr wrap="square" lIns="0" tIns="0" rIns="0" bIns="0" rtlCol="0" anchor="ctr"/>
          <a:lstStyle/>
          <a:p>
            <a:pPr indent="0" marL="0">
              <a:spcAft>
                <a:spcPts val="1000"/>
              </a:spcAft>
              <a:buNone/>
            </a:pPr>
            <a:r>
              <a:rPr lang="en-US" sz="1400" b="1" dirty="0">
                <a:solidFill>
                  <a:schemeClr val="tx1"/>
                </a:solidFill>
              </a:rPr>
              <a:t>Partial, not broken. </a:t>
            </a:r>
            <a:pPr indent="0" marL="0">
              <a:spcAft>
                <a:spcPts val="1000"/>
              </a:spcAft>
              <a:buNone/>
            </a:pPr>
            <a:r>
              <a:rPr lang="en-US" sz="1400" dirty="0">
                <a:solidFill>
                  <a:schemeClr val="tx1"/>
                </a:solidFill>
              </a:rPr>
              <a:t>MongoDB data still shows; category parts are missing.</a:t>
            </a:r>
            <a:endParaRPr lang="en-US" sz="1400" dirty="0"/>
          </a:p>
          <a:p>
            <a:pPr indent="0" marL="0">
              <a:spcAft>
                <a:spcPts val="1000"/>
              </a:spcAft>
              <a:buNone/>
            </a:pPr>
            <a:r>
              <a:rPr lang="en-US" sz="1400" b="1" dirty="0">
                <a:solidFill>
                  <a:schemeClr val="tx1"/>
                </a:solidFill>
              </a:rPr>
              <a:t>Still valid. </a:t>
            </a:r>
            <a:pPr indent="0" marL="0">
              <a:spcAft>
                <a:spcPts val="1000"/>
              </a:spcAft>
              <a:buNone/>
            </a:pPr>
            <a:r>
              <a:rPr lang="en-US" sz="1400" dirty="0">
                <a:solidFill>
                  <a:schemeClr val="tx1"/>
                </a:solidFill>
              </a:rPr>
              <a:t>Every part except sku is optional in the XSD.</a:t>
            </a:r>
            <a:endParaRPr lang="en-US" sz="1400" dirty="0"/>
          </a:p>
          <a:p>
            <a:pPr indent="0" marL="0">
              <a:spcAft>
                <a:spcPts val="1000"/>
              </a:spcAft>
              <a:buNone/>
            </a:pPr>
            <a:r>
              <a:rPr lang="en-US" sz="1400" b="1" dirty="0">
                <a:solidFill>
                  <a:schemeClr val="tx1"/>
                </a:solidFill>
              </a:rPr>
              <a:t>Visible. </a:t>
            </a:r>
            <a:pPr indent="0" marL="0">
              <a:spcAft>
                <a:spcPts val="1000"/>
              </a:spcAft>
              <a:buNone/>
            </a:pPr>
            <a:r>
              <a:rPr lang="en-US" sz="1400" dirty="0">
                <a:solidFill>
                  <a:schemeClr val="tx1"/>
                </a:solidFill>
              </a:rPr>
              <a:t>A banner and the trace show the Neo4j error at step 4.</a:t>
            </a:r>
            <a:endParaRPr lang="en-US" sz="1400" dirty="0"/>
          </a:p>
          <a:p>
            <a:pPr indent="0" marL="0">
              <a:spcAft>
                <a:spcPts val="1000"/>
              </a:spcAft>
              <a:buNone/>
            </a:pPr>
            <a:r>
              <a:rPr lang="en-US" sz="1400" b="1" dirty="0">
                <a:solidFill>
                  <a:schemeClr val="tx1"/>
                </a:solidFill>
              </a:rPr>
              <a:t>Tested. </a:t>
            </a:r>
            <a:pPr indent="0" marL="0">
              <a:spcAft>
                <a:spcPts val="1000"/>
              </a:spcAft>
              <a:buNone/>
            </a:pPr>
            <a:r>
              <a:rPr lang="en-US" sz="1400" dirty="0">
                <a:solidFill>
                  <a:schemeClr val="tx1"/>
                </a:solidFill>
              </a:rPr>
              <a:t>The self-test shows the XSD rejects a bad status, a bad SKU and a duplicate SKU.</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Takeaways</a:t>
            </a:r>
            <a:endParaRPr lang="en-US" sz="3600" dirty="0"/>
          </a:p>
        </p:txBody>
      </p:sp>
      <p:sp>
        <p:nvSpPr>
          <p:cNvPr id="3" name="Takeaway number 01"/>
          <p:cNvSpPr txBox="1"/>
          <p:nvPr/>
        </p:nvSpPr>
        <p:spPr>
          <a:xfrm>
            <a:off x="457200" y="1234440"/>
            <a:ext cx="2560320" cy="731520"/>
          </a:xfrm>
          <a:prstGeom prst="rect">
            <a:avLst/>
          </a:prstGeom>
          <a:noFill/>
          <a:ln/>
        </p:spPr>
        <p:txBody>
          <a:bodyPr wrap="square" lIns="0" tIns="0" rIns="0" bIns="0" rtlCol="0" anchor="t"/>
          <a:lstStyle/>
          <a:p>
            <a:pPr indent="0" marL="0">
              <a:buNone/>
            </a:pPr>
            <a:r>
              <a:rPr lang="en-US" sz="4400" b="1" dirty="0">
                <a:solidFill>
                  <a:srgbClr val="F06292"/>
                </a:solidFill>
              </a:rPr>
              <a:t>01</a:t>
            </a:r>
            <a:endParaRPr lang="en-US" sz="4400" dirty="0"/>
          </a:p>
        </p:txBody>
      </p:sp>
      <p:sp>
        <p:nvSpPr>
          <p:cNvPr id="4" name="Takeaway heading 01"/>
          <p:cNvSpPr txBox="1"/>
          <p:nvPr/>
        </p:nvSpPr>
        <p:spPr>
          <a:xfrm>
            <a:off x="457200" y="2011680"/>
            <a:ext cx="2560320" cy="640080"/>
          </a:xfrm>
          <a:prstGeom prst="rect">
            <a:avLst/>
          </a:prstGeom>
          <a:noFill/>
          <a:ln/>
        </p:spPr>
        <p:txBody>
          <a:bodyPr wrap="square" lIns="0" tIns="0" rIns="0" bIns="0" rtlCol="0" anchor="t"/>
          <a:lstStyle/>
          <a:p>
            <a:pPr indent="0" marL="0">
              <a:buNone/>
            </a:pPr>
            <a:r>
              <a:rPr lang="en-US" sz="2000" b="1" dirty="0">
                <a:solidFill>
                  <a:schemeClr val="bg1"/>
                </a:solidFill>
              </a:rPr>
              <a:t>Right store for each shape</a:t>
            </a:r>
            <a:endParaRPr lang="en-US" sz="2000" dirty="0"/>
          </a:p>
        </p:txBody>
      </p:sp>
      <p:sp>
        <p:nvSpPr>
          <p:cNvPr id="5" name="Takeaway text 01"/>
          <p:cNvSpPr txBox="1"/>
          <p:nvPr/>
        </p:nvSpPr>
        <p:spPr>
          <a:xfrm>
            <a:off x="457200" y="2834640"/>
            <a:ext cx="2560320" cy="914400"/>
          </a:xfrm>
          <a:prstGeom prst="rect">
            <a:avLst/>
          </a:prstGeom>
          <a:noFill/>
          <a:ln/>
        </p:spPr>
        <p:txBody>
          <a:bodyPr wrap="square" lIns="0" tIns="0" rIns="0" bIns="0" rtlCol="0" anchor="t"/>
          <a:lstStyle/>
          <a:p>
            <a:pPr indent="0" marL="0">
              <a:buNone/>
            </a:pPr>
            <a:r>
              <a:rPr lang="en-US" sz="1400" dirty="0">
                <a:solidFill>
                  <a:schemeClr val="bg2"/>
                </a:solidFill>
              </a:rPr>
              <a:t>Documents for uneven catalog data, a graph for hierarchy and links.</a:t>
            </a:r>
            <a:endParaRPr lang="en-US" sz="1400" dirty="0"/>
          </a:p>
        </p:txBody>
      </p:sp>
      <p:sp>
        <p:nvSpPr>
          <p:cNvPr id="6" name="Takeaway number 02"/>
          <p:cNvSpPr txBox="1"/>
          <p:nvPr/>
        </p:nvSpPr>
        <p:spPr>
          <a:xfrm>
            <a:off x="3291840" y="1234440"/>
            <a:ext cx="2560320" cy="731520"/>
          </a:xfrm>
          <a:prstGeom prst="rect">
            <a:avLst/>
          </a:prstGeom>
          <a:noFill/>
          <a:ln/>
        </p:spPr>
        <p:txBody>
          <a:bodyPr wrap="square" lIns="0" tIns="0" rIns="0" bIns="0" rtlCol="0" anchor="t"/>
          <a:lstStyle/>
          <a:p>
            <a:pPr indent="0" marL="0">
              <a:buNone/>
            </a:pPr>
            <a:r>
              <a:rPr lang="en-US" sz="4400" b="1" dirty="0">
                <a:solidFill>
                  <a:srgbClr val="F06292"/>
                </a:solidFill>
              </a:rPr>
              <a:t>02</a:t>
            </a:r>
            <a:endParaRPr lang="en-US" sz="4400" dirty="0"/>
          </a:p>
        </p:txBody>
      </p:sp>
      <p:sp>
        <p:nvSpPr>
          <p:cNvPr id="7" name="Takeaway heading 02"/>
          <p:cNvSpPr txBox="1"/>
          <p:nvPr/>
        </p:nvSpPr>
        <p:spPr>
          <a:xfrm>
            <a:off x="3291840" y="2011680"/>
            <a:ext cx="2560320" cy="640080"/>
          </a:xfrm>
          <a:prstGeom prst="rect">
            <a:avLst/>
          </a:prstGeom>
          <a:noFill/>
          <a:ln/>
        </p:spPr>
        <p:txBody>
          <a:bodyPr wrap="square" lIns="0" tIns="0" rIns="0" bIns="0" rtlCol="0" anchor="t"/>
          <a:lstStyle/>
          <a:p>
            <a:pPr indent="0" marL="0">
              <a:buNone/>
            </a:pPr>
            <a:r>
              <a:rPr lang="en-US" sz="2000" b="1" dirty="0">
                <a:solidFill>
                  <a:schemeClr val="bg1"/>
                </a:solidFill>
              </a:rPr>
              <a:t>XML as the common language</a:t>
            </a:r>
            <a:endParaRPr lang="en-US" sz="2000" dirty="0"/>
          </a:p>
        </p:txBody>
      </p:sp>
      <p:sp>
        <p:nvSpPr>
          <p:cNvPr id="8" name="Takeaway text 02"/>
          <p:cNvSpPr txBox="1"/>
          <p:nvPr/>
        </p:nvSpPr>
        <p:spPr>
          <a:xfrm>
            <a:off x="3291840" y="2834640"/>
            <a:ext cx="2560320" cy="914400"/>
          </a:xfrm>
          <a:prstGeom prst="rect">
            <a:avLst/>
          </a:prstGeom>
          <a:noFill/>
          <a:ln/>
        </p:spPr>
        <p:txBody>
          <a:bodyPr wrap="square" lIns="0" tIns="0" rIns="0" bIns="0" rtlCol="0" anchor="t"/>
          <a:lstStyle/>
          <a:p>
            <a:pPr indent="0" marL="0">
              <a:buNone/>
            </a:pPr>
            <a:r>
              <a:rPr lang="en-US" sz="1400" dirty="0">
                <a:solidFill>
                  <a:schemeClr val="bg2"/>
                </a:solidFill>
              </a:rPr>
              <a:t>Each database answers in its own XML piece; the mediator joins them on SKU.</a:t>
            </a:r>
            <a:endParaRPr lang="en-US" sz="1400" dirty="0"/>
          </a:p>
        </p:txBody>
      </p:sp>
      <p:sp>
        <p:nvSpPr>
          <p:cNvPr id="9" name="Takeaway number 03"/>
          <p:cNvSpPr txBox="1"/>
          <p:nvPr/>
        </p:nvSpPr>
        <p:spPr>
          <a:xfrm>
            <a:off x="6126480" y="1234440"/>
            <a:ext cx="2560320" cy="731520"/>
          </a:xfrm>
          <a:prstGeom prst="rect">
            <a:avLst/>
          </a:prstGeom>
          <a:noFill/>
          <a:ln/>
        </p:spPr>
        <p:txBody>
          <a:bodyPr wrap="square" lIns="0" tIns="0" rIns="0" bIns="0" rtlCol="0" anchor="t"/>
          <a:lstStyle/>
          <a:p>
            <a:pPr indent="0" marL="0">
              <a:buNone/>
            </a:pPr>
            <a:r>
              <a:rPr lang="en-US" sz="4400" b="1" dirty="0">
                <a:solidFill>
                  <a:srgbClr val="F06292"/>
                </a:solidFill>
              </a:rPr>
              <a:t>03</a:t>
            </a:r>
            <a:endParaRPr lang="en-US" sz="4400" dirty="0"/>
          </a:p>
        </p:txBody>
      </p:sp>
      <p:sp>
        <p:nvSpPr>
          <p:cNvPr id="10" name="Takeaway heading 03"/>
          <p:cNvSpPr txBox="1"/>
          <p:nvPr/>
        </p:nvSpPr>
        <p:spPr>
          <a:xfrm>
            <a:off x="6126480" y="2011680"/>
            <a:ext cx="2560320" cy="640080"/>
          </a:xfrm>
          <a:prstGeom prst="rect">
            <a:avLst/>
          </a:prstGeom>
          <a:noFill/>
          <a:ln/>
        </p:spPr>
        <p:txBody>
          <a:bodyPr wrap="square" lIns="0" tIns="0" rIns="0" bIns="0" rtlCol="0" anchor="t"/>
          <a:lstStyle/>
          <a:p>
            <a:pPr indent="0" marL="0">
              <a:buNone/>
            </a:pPr>
            <a:r>
              <a:rPr lang="en-US" sz="2000" b="1" dirty="0">
                <a:solidFill>
                  <a:schemeClr val="bg1"/>
                </a:solidFill>
              </a:rPr>
              <a:t>The XSD as the contract</a:t>
            </a:r>
            <a:endParaRPr lang="en-US" sz="2000" dirty="0"/>
          </a:p>
        </p:txBody>
      </p:sp>
      <p:sp>
        <p:nvSpPr>
          <p:cNvPr id="11" name="Takeaway text 03"/>
          <p:cNvSpPr txBox="1"/>
          <p:nvPr/>
        </p:nvSpPr>
        <p:spPr>
          <a:xfrm>
            <a:off x="6126480" y="2834640"/>
            <a:ext cx="2560320" cy="914400"/>
          </a:xfrm>
          <a:prstGeom prst="rect">
            <a:avLst/>
          </a:prstGeom>
          <a:noFill/>
          <a:ln/>
        </p:spPr>
        <p:txBody>
          <a:bodyPr wrap="square" lIns="0" tIns="0" rIns="0" bIns="0" rtlCol="0" anchor="t"/>
          <a:lstStyle/>
          <a:p>
            <a:pPr indent="0" marL="0">
              <a:buNone/>
            </a:pPr>
            <a:r>
              <a:rPr lang="en-US" sz="1400" dirty="0">
                <a:solidFill>
                  <a:schemeClr val="bg2"/>
                </a:solidFill>
              </a:rPr>
              <a:t>One schema validates every merged document, even when a database is down.</a:t>
            </a:r>
            <a:endParaRPr lang="en-US" sz="1400" dirty="0"/>
          </a:p>
        </p:txBody>
      </p:sp>
      <p:sp>
        <p:nvSpPr>
          <p:cNvPr id="12" name="Limits"/>
          <p:cNvSpPr txBox="1"/>
          <p:nvPr/>
        </p:nvSpPr>
        <p:spPr>
          <a:xfrm>
            <a:off x="457200" y="3840480"/>
            <a:ext cx="8229600" cy="320040"/>
          </a:xfrm>
          <a:prstGeom prst="rect">
            <a:avLst/>
          </a:prstGeom>
          <a:noFill/>
          <a:ln/>
        </p:spPr>
        <p:txBody>
          <a:bodyPr wrap="square" lIns="0" tIns="0" rIns="0" bIns="0" rtlCol="0" anchor="t"/>
          <a:lstStyle/>
          <a:p>
            <a:pPr indent="0" marL="0">
              <a:buNone/>
            </a:pPr>
            <a:r>
              <a:rPr lang="en-US" sz="1400" dirty="0">
                <a:solidFill>
                  <a:schemeClr val="bg2"/>
                </a:solidFill>
              </a:rPr>
              <a:t>Limits: sample data, no caching, no login.</a:t>
            </a:r>
            <a:endParaRPr lang="en-US" sz="1400" dirty="0"/>
          </a:p>
        </p:txBody>
      </p:sp>
      <p:sp>
        <p:nvSpPr>
          <p:cNvPr id="13" name="Questions"/>
          <p:cNvSpPr txBox="1"/>
          <p:nvPr/>
        </p:nvSpPr>
        <p:spPr>
          <a:xfrm>
            <a:off x="457200" y="4206240"/>
            <a:ext cx="8229600" cy="548640"/>
          </a:xfrm>
          <a:prstGeom prst="rect">
            <a:avLst/>
          </a:prstGeom>
          <a:noFill/>
          <a:ln/>
        </p:spPr>
        <p:txBody>
          <a:bodyPr wrap="square" lIns="0" tIns="0" rIns="0" bIns="0" rtlCol="0" anchor="t"/>
          <a:lstStyle/>
          <a:p>
            <a:pPr indent="0" marL="0">
              <a:buNone/>
            </a:pPr>
            <a:r>
              <a:rPr lang="en-US" sz="3200" b="1" dirty="0">
                <a:solidFill>
                  <a:schemeClr val="bg1"/>
                </a:solidFill>
              </a:rPr>
              <a:t>Questions?</a:t>
            </a:r>
            <a:endParaRPr lang="en-US" sz="3200" dirty="0"/>
          </a:p>
        </p:txBody>
      </p:sp>
    </p:spTree>
  </p:cSld>
  <p:clrMapOvr>
    <a:masterClrMapping/>
  </p:clrMapOvr>
</p:sld>
</file>

<file path=ppt/theme/theme1.xml><?xml version="1.0" encoding="utf-8"?>
<a:theme xmlns:a="http://schemas.openxmlformats.org/drawingml/2006/main" name="Merch Inventory">
  <a:themeElements>
    <a:clrScheme name="Merch Inventory">
      <a:dk1>
        <a:srgbClr val="2B0F20"/>
      </a:dk1>
      <a:lt1>
        <a:srgbClr val="FFFFFF"/>
      </a:lt1>
      <a:dk2>
        <a:srgbClr val="5A1A3A"/>
      </a:dk2>
      <a:lt2>
        <a:srgbClr val="FBF0F5"/>
      </a:lt2>
      <a:accent1>
        <a:srgbClr val="C2185B"/>
      </a:accent1>
      <a:accent2>
        <a:srgbClr val="1B7F4B"/>
      </a:accent2>
      <a:accent3>
        <a:srgbClr val="1F5FBF"/>
      </a:accent3>
      <a:accent4>
        <a:srgbClr val="9A5B00"/>
      </a:accent4>
      <a:accent5>
        <a:srgbClr val="B3261E"/>
      </a:accent5>
      <a:accent6>
        <a:srgbClr val="6B7280"/>
      </a:accent6>
      <a:hlink>
        <a:srgbClr val="1F5FBF"/>
      </a:hlink>
      <a:folHlink>
        <a:srgbClr val="6B7280"/>
      </a:folHlink>
    </a:clrScheme>
    <a:fontScheme name="Merch Inven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Merchandise Categorization and Inventory</dc:title>
  <dc:subject>MongoDB + Neo4j integrated through XML</dc:subject>
  <dc:creator>PptxGenJS</dc:creator>
  <cp:lastModifiedBy>PptxGenJS</cp:lastModifiedBy>
  <cp:revision>1</cp:revision>
  <dcterms:created xsi:type="dcterms:W3CDTF">2026-10-18T05:55:24Z</dcterms:created>
  <dcterms:modified xsi:type="dcterms:W3CDTF">2026-10-18T05:55:24Z</dcterms:modified>
</cp:coreProperties>
</file>